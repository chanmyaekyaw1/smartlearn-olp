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522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4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9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2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5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01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0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9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2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A603A-5F06-4B64-A058-C77C50066BE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CE376-74A5-4378-9E25-8B409F80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9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5469" y="1543575"/>
            <a:ext cx="10363200" cy="1470025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Algerian" panose="04020705040A02060702" pitchFamily="82" charset="0"/>
                <a:cs typeface="Times New Roman" panose="02020603050405020304" pitchFamily="18" charset="0"/>
              </a:rPr>
              <a:t>Input Validation</a:t>
            </a:r>
          </a:p>
        </p:txBody>
      </p:sp>
      <p:pic>
        <p:nvPicPr>
          <p:cNvPr id="1026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5054645" y="3446059"/>
            <a:ext cx="2707233" cy="253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howcard Gothic" panose="04020904020102020604" pitchFamily="82" charset="0"/>
                <a:cs typeface="Times New Roman" panose="02020603050405020304" pitchFamily="18" charset="0"/>
              </a:rPr>
              <a:t>Input validation</a:t>
            </a:r>
            <a:endParaRPr lang="en-US" dirty="0">
              <a:latin typeface="Showcard Gothic" panose="04020904020102020604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is one of the most effective technical controls for application security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Mitigate numerous vulnerabilities including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forms of injection, and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buffer overflows.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is more than checking form field values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“Don’t trust user input”.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validate user data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can be used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more complicated regular express are more chance to errors </a:t>
            </a: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Showcard Gothic" panose="04020904020102020604" pitchFamily="82" charset="0"/>
                <a:cs typeface="Times New Roman" panose="02020603050405020304" pitchFamily="18" charset="0"/>
              </a:rPr>
              <a:t>How to Validate?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715" y="2332037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Known Good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Known Bad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Canonicalization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1) Accept 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Known Good</a:t>
            </a:r>
            <a:b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</a:b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040" y="1084283"/>
            <a:ext cx="10524418" cy="375390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If possible, an exact match validator should be implemented. </a:t>
            </a:r>
          </a:p>
          <a:p>
            <a:pPr algn="just"/>
            <a:r>
              <a:rPr lang="en-US" sz="2000" dirty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Exact match only permits data that conforms to an expected value. 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“Known </a:t>
            </a:r>
            <a:r>
              <a:rPr lang="en-US" sz="2000" dirty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good” approach (whitelist), which is a little weaker, but more </a:t>
            </a:r>
            <a:r>
              <a:rPr lang="en-US" sz="2000" dirty="0" smtClean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flexible</a:t>
            </a:r>
            <a:endParaRPr lang="en-US" sz="2000" dirty="0">
              <a:solidFill>
                <a:srgbClr val="0070C0"/>
              </a:solidFill>
              <a:latin typeface="Sitka Text" panose="02000505000000020004" pitchFamily="2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Known good only permits characters/ASCII ranges defined within a </a:t>
            </a:r>
            <a:r>
              <a:rPr lang="en-US" sz="2000" dirty="0" smtClean="0">
                <a:solidFill>
                  <a:srgbClr val="0070C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whitelist</a:t>
            </a:r>
            <a:endParaRPr lang="en-US" sz="2000" dirty="0">
              <a:solidFill>
                <a:srgbClr val="0070C0"/>
              </a:solidFill>
              <a:latin typeface="Sitka Text" panose="02000505000000020004" pitchFamily="2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Example: </a:t>
            </a:r>
          </a:p>
          <a:p>
            <a:pPr lvl="1" algn="just"/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Length checked and fields length minimized </a:t>
            </a:r>
          </a:p>
          <a:p>
            <a:pPr lvl="1" algn="just"/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Range checked if a numeric </a:t>
            </a:r>
          </a:p>
          <a:p>
            <a:pPr lvl="1" algn="just"/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If you expect phone number, this should be number and the length is no more than 15 characters.</a:t>
            </a:r>
          </a:p>
          <a:p>
            <a:pPr algn="just"/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It should need to do effective filter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  <a:latin typeface="Sitka Text" panose="02000505000000020004" pitchFamily="2" charset="0"/>
                <a:cs typeface="Times New Roman" panose="02020603050405020304" pitchFamily="18" charset="0"/>
              </a:rPr>
              <a:t>For example; </a:t>
            </a:r>
            <a:endParaRPr lang="en-US" sz="2000" dirty="0" smtClean="0">
              <a:solidFill>
                <a:srgbClr val="FF0000"/>
              </a:solidFill>
              <a:latin typeface="Sitka Text" panose="02000505000000020004" pitchFamily="2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 smtClean="0">
                <a:latin typeface="Sitka Text" panose="02000505000000020004" pitchFamily="2" charset="0"/>
                <a:cs typeface="Times New Roman" panose="02020603050405020304" pitchFamily="18" charset="0"/>
              </a:rPr>
              <a:t>some </a:t>
            </a:r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people’s names contain an apostrophe or hyphen. These can be used in attacks against databases, but it may be a requirement that the application should permit anyone to register under his or her real name. </a:t>
            </a:r>
          </a:p>
          <a:p>
            <a:pPr algn="just"/>
            <a:r>
              <a:rPr lang="en-US" sz="2000" dirty="0">
                <a:latin typeface="Sitka Text" panose="02000505000000020004" pitchFamily="2" charset="0"/>
                <a:cs typeface="Times New Roman" panose="02020603050405020304" pitchFamily="18" charset="0"/>
              </a:rPr>
              <a:t>But we should know what is the good input is</a:t>
            </a: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15" y="0"/>
            <a:ext cx="109728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>
            <a:no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2) Reject </a:t>
            </a:r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Known </a:t>
            </a:r>
            <a:r>
              <a:rPr lang="en-US" sz="4000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Bad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558" y="1282891"/>
            <a:ext cx="11022842" cy="484327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 a blacklist containing a set of literal strings or patterns that are known to be used in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attacks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any data that matches the blacklist and allows everything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effective approach to validating user input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Omit some patterns of input that can be used to attack the application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exploitation are constantly evolving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SELECT is blocked, try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or 1=1-- is blocked, try or 2=2—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alert(‘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 is blocked, try prompt(‘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what should we do if the attacker use &lt;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(or) &lt;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didn’t know all potential payload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715" y="0"/>
            <a:ext cx="109728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en-US" sz="4000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3) Canonicalization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which various equivalent forms of a name can be resolved to </a:t>
            </a: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standard name, or </a:t>
            </a: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“canonical” name.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input is sent from the user’s browser, it may be encoded in various ways.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Encoding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 exist so that unusual characters and binary data may be transmitted safely over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or decoding data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a common character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canonicalization is carried out after input filters have been applied, </a:t>
            </a: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 may be able to use a 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encoding scheme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bypass the validation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3) Canonicalization (</a:t>
            </a: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Cont’d)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may attempt to defend against some SQL injection attacks by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input containing 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may be able to use double URL encoding to defeat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%2527 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input is received, the application server performs its normal URL decode, so the input becomes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%27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contain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it is permitted by the application’s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filters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application performs a further URL decode, the input is converted into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thereby bypassing the filter.</a:t>
            </a:r>
          </a:p>
          <a:p>
            <a:pPr algn="just"/>
            <a:endParaRPr lang="en-US" dirty="0"/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7964" y="2744883"/>
            <a:ext cx="10972800" cy="1143000"/>
          </a:xfrm>
        </p:spPr>
        <p:txBody>
          <a:bodyPr/>
          <a:lstStyle/>
          <a:p>
            <a:r>
              <a:rPr lang="en-US" b="1" dirty="0" smtClean="0">
                <a:latin typeface="Algerian" panose="04020705040A02060702" pitchFamily="82" charset="0"/>
                <a:ea typeface="Segoe UI Black" panose="020B0A02040204020203" pitchFamily="34" charset="0"/>
                <a:cs typeface="Times New Roman" panose="02020603050405020304" pitchFamily="18" charset="0"/>
              </a:rPr>
              <a:t>Thanks All!</a:t>
            </a:r>
            <a:endParaRPr lang="en-US" b="1" dirty="0">
              <a:latin typeface="Algerian" panose="04020705040A02060702" pitchFamily="82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stock-vector-input-validation-icon-vector-symbol-design-illustration-227846256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2072" r="12667" b="20416"/>
          <a:stretch/>
        </p:blipFill>
        <p:spPr bwMode="auto">
          <a:xfrm>
            <a:off x="95534" y="0"/>
            <a:ext cx="1156362" cy="108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54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551</Words>
  <Application>Microsoft Office PowerPoint</Application>
  <PresentationFormat>Custom</PresentationFormat>
  <Paragraphs>59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Input Validation</vt:lpstr>
      <vt:lpstr>Input validation</vt:lpstr>
      <vt:lpstr>How to Validate?</vt:lpstr>
      <vt:lpstr>1) Accept Known Good </vt:lpstr>
      <vt:lpstr>2) Reject Known Bad</vt:lpstr>
      <vt:lpstr>3) Canonicalization</vt:lpstr>
      <vt:lpstr>3) Canonicalization (Cont’d)</vt:lpstr>
      <vt:lpstr>Thanks All!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 Validation</dc:title>
  <dc:creator>FIS UCSY</dc:creator>
  <cp:lastModifiedBy>ASUS</cp:lastModifiedBy>
  <cp:revision>48</cp:revision>
  <dcterms:created xsi:type="dcterms:W3CDTF">2020-06-06T16:17:00Z</dcterms:created>
  <dcterms:modified xsi:type="dcterms:W3CDTF">2026-06-19T06:41:52Z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6A8A4FF086204BBCA1D08DE06B0BD052_12</vt:lpwstr>
  </property>
  <property fmtid="{D5CDD505-2E9C-101B-9397-08002B2CF9AE}" pid="3" name="KSOProductBuildVer">
    <vt:lpwstr>1033-12.2.0.19307</vt:lpwstr>
  </property>
</Properties>
</file>