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2"/>
  </p:notesMasterIdLst>
  <p:sldIdLst>
    <p:sldId id="295" r:id="rId2"/>
    <p:sldId id="296" r:id="rId3"/>
    <p:sldId id="298" r:id="rId4"/>
    <p:sldId id="299" r:id="rId5"/>
    <p:sldId id="300" r:id="rId6"/>
    <p:sldId id="301" r:id="rId7"/>
    <p:sldId id="302" r:id="rId8"/>
    <p:sldId id="303" r:id="rId9"/>
    <p:sldId id="304" r:id="rId10"/>
    <p:sldId id="305" r:id="rId11"/>
    <p:sldId id="306" r:id="rId12"/>
    <p:sldId id="307" r:id="rId13"/>
    <p:sldId id="308" r:id="rId14"/>
    <p:sldId id="309" r:id="rId15"/>
    <p:sldId id="310" r:id="rId16"/>
    <p:sldId id="311" r:id="rId17"/>
    <p:sldId id="312" r:id="rId18"/>
    <p:sldId id="265" r:id="rId19"/>
    <p:sldId id="259" r:id="rId20"/>
    <p:sldId id="260" r:id="rId21"/>
    <p:sldId id="261" r:id="rId22"/>
    <p:sldId id="262" r:id="rId23"/>
    <p:sldId id="263" r:id="rId24"/>
    <p:sldId id="258" r:id="rId25"/>
    <p:sldId id="266" r:id="rId26"/>
    <p:sldId id="267" r:id="rId27"/>
    <p:sldId id="268" r:id="rId28"/>
    <p:sldId id="294" r:id="rId29"/>
    <p:sldId id="287" r:id="rId30"/>
    <p:sldId id="269" r:id="rId31"/>
    <p:sldId id="286" r:id="rId32"/>
    <p:sldId id="282" r:id="rId33"/>
    <p:sldId id="280" r:id="rId34"/>
    <p:sldId id="281" r:id="rId35"/>
    <p:sldId id="283" r:id="rId36"/>
    <p:sldId id="284" r:id="rId37"/>
    <p:sldId id="285" r:id="rId38"/>
    <p:sldId id="288" r:id="rId39"/>
    <p:sldId id="270" r:id="rId40"/>
    <p:sldId id="271" r:id="rId41"/>
    <p:sldId id="272" r:id="rId42"/>
    <p:sldId id="273" r:id="rId43"/>
    <p:sldId id="274" r:id="rId44"/>
    <p:sldId id="275" r:id="rId45"/>
    <p:sldId id="276" r:id="rId46"/>
    <p:sldId id="289" r:id="rId47"/>
    <p:sldId id="290" r:id="rId48"/>
    <p:sldId id="291" r:id="rId49"/>
    <p:sldId id="292" r:id="rId50"/>
    <p:sldId id="293" r:id="rId5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9" autoAdjust="0"/>
    <p:restoredTop sz="76169" autoAdjust="0"/>
  </p:normalViewPr>
  <p:slideViewPr>
    <p:cSldViewPr snapToGrid="0" showGuides="1">
      <p:cViewPr varScale="1">
        <p:scale>
          <a:sx n="61" d="100"/>
          <a:sy n="61" d="100"/>
        </p:scale>
        <p:origin x="1214" y="5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6D11BE-0F22-48DE-9BA7-7299F38D8196}" type="datetimeFigureOut">
              <a:rPr lang="en-US" smtClean="0"/>
              <a:t>6/8/2026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A34253-ABCD-4DB7-A1EA-503074CA3FB3}" type="slidenum">
              <a:rPr lang="en-US" smtClean="0"/>
              <a:t>‹#›</a:t>
            </a:fld>
            <a:endParaRPr lang="en-US"/>
          </a:p>
        </p:txBody>
      </p:sp>
    </p:spTree>
    <p:extLst>
      <p:ext uri="{BB962C8B-B14F-4D97-AF65-F5344CB8AC3E}">
        <p14:creationId xmlns:p14="http://schemas.microsoft.com/office/powerpoint/2010/main" val="34009071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A34253-ABCD-4DB7-A1EA-503074CA3FB3}" type="slidenum">
              <a:rPr lang="en-US" smtClean="0"/>
              <a:t>18</a:t>
            </a:fld>
            <a:endParaRPr lang="en-US"/>
          </a:p>
        </p:txBody>
      </p:sp>
    </p:spTree>
    <p:extLst>
      <p:ext uri="{BB962C8B-B14F-4D97-AF65-F5344CB8AC3E}">
        <p14:creationId xmlns:p14="http://schemas.microsoft.com/office/powerpoint/2010/main" val="41189531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Bool</a:t>
            </a:r>
          </a:p>
        </p:txBody>
      </p:sp>
      <p:sp>
        <p:nvSpPr>
          <p:cNvPr id="4" name="Slide Number Placeholder 3"/>
          <p:cNvSpPr>
            <a:spLocks noGrp="1"/>
          </p:cNvSpPr>
          <p:nvPr>
            <p:ph type="sldNum" sz="quarter" idx="5"/>
          </p:nvPr>
        </p:nvSpPr>
        <p:spPr/>
        <p:txBody>
          <a:bodyPr/>
          <a:lstStyle/>
          <a:p>
            <a:fld id="{03A34253-ABCD-4DB7-A1EA-503074CA3FB3}" type="slidenum">
              <a:rPr lang="en-US" smtClean="0"/>
              <a:t>25</a:t>
            </a:fld>
            <a:endParaRPr lang="en-US"/>
          </a:p>
        </p:txBody>
      </p:sp>
    </p:spTree>
    <p:extLst>
      <p:ext uri="{BB962C8B-B14F-4D97-AF65-F5344CB8AC3E}">
        <p14:creationId xmlns:p14="http://schemas.microsoft.com/office/powerpoint/2010/main" val="20350921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https://youtu.be/4w9ZukasOIE</a:t>
            </a:r>
          </a:p>
        </p:txBody>
      </p:sp>
      <p:sp>
        <p:nvSpPr>
          <p:cNvPr id="4" name="Slide Number Placeholder 3"/>
          <p:cNvSpPr>
            <a:spLocks noGrp="1"/>
          </p:cNvSpPr>
          <p:nvPr>
            <p:ph type="sldNum" sz="quarter" idx="5"/>
          </p:nvPr>
        </p:nvSpPr>
        <p:spPr/>
        <p:txBody>
          <a:bodyPr/>
          <a:lstStyle/>
          <a:p>
            <a:fld id="{03A34253-ABCD-4DB7-A1EA-503074CA3FB3}" type="slidenum">
              <a:rPr lang="en-US" smtClean="0"/>
              <a:t>26</a:t>
            </a:fld>
            <a:endParaRPr lang="en-US"/>
          </a:p>
        </p:txBody>
      </p:sp>
    </p:spTree>
    <p:extLst>
      <p:ext uri="{BB962C8B-B14F-4D97-AF65-F5344CB8AC3E}">
        <p14:creationId xmlns:p14="http://schemas.microsoft.com/office/powerpoint/2010/main" val="21420846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https://youtu.be/ufzQLiUWHNg</a:t>
            </a:r>
          </a:p>
          <a:p>
            <a:r>
              <a:rPr lang="en-US" dirty="0"/>
              <a:t>https://www.youtube.com/shorts/S7tdqUO8QbQ?feature=share</a:t>
            </a:r>
          </a:p>
        </p:txBody>
      </p:sp>
      <p:sp>
        <p:nvSpPr>
          <p:cNvPr id="4" name="Slide Number Placeholder 3"/>
          <p:cNvSpPr>
            <a:spLocks noGrp="1"/>
          </p:cNvSpPr>
          <p:nvPr>
            <p:ph type="sldNum" sz="quarter" idx="5"/>
          </p:nvPr>
        </p:nvSpPr>
        <p:spPr/>
        <p:txBody>
          <a:bodyPr/>
          <a:lstStyle/>
          <a:p>
            <a:fld id="{03A34253-ABCD-4DB7-A1EA-503074CA3FB3}" type="slidenum">
              <a:rPr lang="en-US" smtClean="0"/>
              <a:t>27</a:t>
            </a:fld>
            <a:endParaRPr lang="en-US"/>
          </a:p>
        </p:txBody>
      </p:sp>
    </p:spTree>
    <p:extLst>
      <p:ext uri="{BB962C8B-B14F-4D97-AF65-F5344CB8AC3E}">
        <p14:creationId xmlns:p14="http://schemas.microsoft.com/office/powerpoint/2010/main" val="3441227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A34253-ABCD-4DB7-A1EA-503074CA3FB3}" type="slidenum">
              <a:rPr lang="en-US" smtClean="0"/>
              <a:t>29</a:t>
            </a:fld>
            <a:endParaRPr lang="en-US"/>
          </a:p>
        </p:txBody>
      </p:sp>
    </p:spTree>
    <p:extLst>
      <p:ext uri="{BB962C8B-B14F-4D97-AF65-F5344CB8AC3E}">
        <p14:creationId xmlns:p14="http://schemas.microsoft.com/office/powerpoint/2010/main" val="32085958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my-MM" sz="1200" kern="1200" dirty="0">
                <a:solidFill>
                  <a:schemeClr val="tx1"/>
                </a:solidFill>
                <a:effectLst/>
                <a:latin typeface="+mn-lt"/>
                <a:ea typeface="+mn-ea"/>
                <a:cs typeface="+mn-cs"/>
              </a:rPr>
              <a:t>ပရိုဂရမ်တစ်ခု၏ ဖွဲ့စည်းပုံသည် ၎င်းကို ပြုပြင်ထိန်းသိမ်းမှု ပိုများလာသောကြောင့် ၎င်းအား ဆုတ်ယုတ်သွားတတ်သည်။</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03A34253-ABCD-4DB7-A1EA-503074CA3FB3}" type="slidenum">
              <a:rPr lang="en-US" smtClean="0"/>
              <a:t>33</a:t>
            </a:fld>
            <a:endParaRPr lang="en-US"/>
          </a:p>
        </p:txBody>
      </p:sp>
    </p:spTree>
    <p:extLst>
      <p:ext uri="{BB962C8B-B14F-4D97-AF65-F5344CB8AC3E}">
        <p14:creationId xmlns:p14="http://schemas.microsoft.com/office/powerpoint/2010/main" val="9583790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https://youtu.be/O0myhx06jH4</a:t>
            </a:r>
          </a:p>
          <a:p>
            <a:endParaRPr lang="en-US" dirty="0"/>
          </a:p>
        </p:txBody>
      </p:sp>
      <p:sp>
        <p:nvSpPr>
          <p:cNvPr id="4" name="Slide Number Placeholder 3"/>
          <p:cNvSpPr>
            <a:spLocks noGrp="1"/>
          </p:cNvSpPr>
          <p:nvPr>
            <p:ph type="sldNum" sz="quarter" idx="5"/>
          </p:nvPr>
        </p:nvSpPr>
        <p:spPr/>
        <p:txBody>
          <a:bodyPr/>
          <a:lstStyle/>
          <a:p>
            <a:fld id="{03A34253-ABCD-4DB7-A1EA-503074CA3FB3}" type="slidenum">
              <a:rPr lang="en-US" smtClean="0"/>
              <a:t>36</a:t>
            </a:fld>
            <a:endParaRPr lang="en-US"/>
          </a:p>
        </p:txBody>
      </p:sp>
    </p:spTree>
    <p:extLst>
      <p:ext uri="{BB962C8B-B14F-4D97-AF65-F5344CB8AC3E}">
        <p14:creationId xmlns:p14="http://schemas.microsoft.com/office/powerpoint/2010/main" val="4624943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A34253-ABCD-4DB7-A1EA-503074CA3FB3}" type="slidenum">
              <a:rPr lang="en-US" smtClean="0"/>
              <a:t>37</a:t>
            </a:fld>
            <a:endParaRPr lang="en-US"/>
          </a:p>
        </p:txBody>
      </p:sp>
    </p:spTree>
    <p:extLst>
      <p:ext uri="{BB962C8B-B14F-4D97-AF65-F5344CB8AC3E}">
        <p14:creationId xmlns:p14="http://schemas.microsoft.com/office/powerpoint/2010/main" val="21065358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https://youtu.be/c4Z_Ojj7C-8</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https://youtu.be/crxlIhohfi4</a:t>
            </a:r>
          </a:p>
          <a:p>
            <a:endParaRPr lang="en-US" dirty="0"/>
          </a:p>
        </p:txBody>
      </p:sp>
      <p:sp>
        <p:nvSpPr>
          <p:cNvPr id="4" name="Slide Number Placeholder 3"/>
          <p:cNvSpPr>
            <a:spLocks noGrp="1"/>
          </p:cNvSpPr>
          <p:nvPr>
            <p:ph type="sldNum" sz="quarter" idx="5"/>
          </p:nvPr>
        </p:nvSpPr>
        <p:spPr/>
        <p:txBody>
          <a:bodyPr/>
          <a:lstStyle/>
          <a:p>
            <a:fld id="{03A34253-ABCD-4DB7-A1EA-503074CA3FB3}" type="slidenum">
              <a:rPr lang="en-US" smtClean="0"/>
              <a:t>39</a:t>
            </a:fld>
            <a:endParaRPr lang="en-US"/>
          </a:p>
        </p:txBody>
      </p:sp>
    </p:spTree>
    <p:extLst>
      <p:ext uri="{BB962C8B-B14F-4D97-AF65-F5344CB8AC3E}">
        <p14:creationId xmlns:p14="http://schemas.microsoft.com/office/powerpoint/2010/main" val="8236938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https://youtu.be/crxlIhohfi4</a:t>
            </a:r>
          </a:p>
        </p:txBody>
      </p:sp>
      <p:sp>
        <p:nvSpPr>
          <p:cNvPr id="4" name="Slide Number Placeholder 3"/>
          <p:cNvSpPr>
            <a:spLocks noGrp="1"/>
          </p:cNvSpPr>
          <p:nvPr>
            <p:ph type="sldNum" sz="quarter" idx="5"/>
          </p:nvPr>
        </p:nvSpPr>
        <p:spPr/>
        <p:txBody>
          <a:bodyPr/>
          <a:lstStyle/>
          <a:p>
            <a:fld id="{03A34253-ABCD-4DB7-A1EA-503074CA3FB3}" type="slidenum">
              <a:rPr lang="en-US" smtClean="0"/>
              <a:t>40</a:t>
            </a:fld>
            <a:endParaRPr lang="en-US"/>
          </a:p>
        </p:txBody>
      </p:sp>
    </p:spTree>
    <p:extLst>
      <p:ext uri="{BB962C8B-B14F-4D97-AF65-F5344CB8AC3E}">
        <p14:creationId xmlns:p14="http://schemas.microsoft.com/office/powerpoint/2010/main" val="369326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https://youtu.be/q59o5ZhEAew</a:t>
            </a:r>
          </a:p>
          <a:p>
            <a:r>
              <a:rPr lang="en-US" dirty="0"/>
              <a:t>https://youtu.be/q59o5ZhEAew</a:t>
            </a:r>
          </a:p>
        </p:txBody>
      </p:sp>
      <p:sp>
        <p:nvSpPr>
          <p:cNvPr id="4" name="Slide Number Placeholder 3"/>
          <p:cNvSpPr>
            <a:spLocks noGrp="1"/>
          </p:cNvSpPr>
          <p:nvPr>
            <p:ph type="sldNum" sz="quarter" idx="5"/>
          </p:nvPr>
        </p:nvSpPr>
        <p:spPr/>
        <p:txBody>
          <a:bodyPr/>
          <a:lstStyle/>
          <a:p>
            <a:fld id="{03A34253-ABCD-4DB7-A1EA-503074CA3FB3}" type="slidenum">
              <a:rPr lang="en-US" smtClean="0"/>
              <a:t>46</a:t>
            </a:fld>
            <a:endParaRPr lang="en-US"/>
          </a:p>
        </p:txBody>
      </p:sp>
    </p:spTree>
    <p:extLst>
      <p:ext uri="{BB962C8B-B14F-4D97-AF65-F5344CB8AC3E}">
        <p14:creationId xmlns:p14="http://schemas.microsoft.com/office/powerpoint/2010/main" val="1504640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892B1F5-2BB2-42BB-9BA7-467E1A58D056}" type="datetimeFigureOut">
              <a:rPr lang="en-US" smtClean="0"/>
              <a:t>6/8/2026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106890-58BD-4EFB-B8EC-D10566462008}" type="slidenum">
              <a:rPr lang="en-US" smtClean="0"/>
              <a:t>‹#›</a:t>
            </a:fld>
            <a:endParaRPr lang="en-US"/>
          </a:p>
        </p:txBody>
      </p:sp>
    </p:spTree>
    <p:extLst>
      <p:ext uri="{BB962C8B-B14F-4D97-AF65-F5344CB8AC3E}">
        <p14:creationId xmlns:p14="http://schemas.microsoft.com/office/powerpoint/2010/main" val="140414943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92B1F5-2BB2-42BB-9BA7-467E1A58D056}" type="datetimeFigureOut">
              <a:rPr lang="en-US" smtClean="0"/>
              <a:t>6/8/2026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106890-58BD-4EFB-B8EC-D10566462008}" type="slidenum">
              <a:rPr lang="en-US" smtClean="0"/>
              <a:t>‹#›</a:t>
            </a:fld>
            <a:endParaRPr lang="en-US"/>
          </a:p>
        </p:txBody>
      </p:sp>
    </p:spTree>
    <p:extLst>
      <p:ext uri="{BB962C8B-B14F-4D97-AF65-F5344CB8AC3E}">
        <p14:creationId xmlns:p14="http://schemas.microsoft.com/office/powerpoint/2010/main" val="197691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892B1F5-2BB2-42BB-9BA7-467E1A58D056}" type="datetimeFigureOut">
              <a:rPr lang="en-US" smtClean="0"/>
              <a:t>6/8/2026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106890-58BD-4EFB-B8EC-D10566462008}" type="slidenum">
              <a:rPr lang="en-US" smtClean="0"/>
              <a:t>‹#›</a:t>
            </a:fld>
            <a:endParaRPr lang="en-US"/>
          </a:p>
        </p:txBody>
      </p:sp>
    </p:spTree>
    <p:extLst>
      <p:ext uri="{BB962C8B-B14F-4D97-AF65-F5344CB8AC3E}">
        <p14:creationId xmlns:p14="http://schemas.microsoft.com/office/powerpoint/2010/main" val="211511606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1892B1F5-2BB2-42BB-9BA7-467E1A58D056}" type="datetimeFigureOut">
              <a:rPr lang="en-US" smtClean="0"/>
              <a:t>6/8/2026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27106890-58BD-4EFB-B8EC-D10566462008}" type="slidenum">
              <a:rPr lang="en-US" smtClean="0"/>
              <a:t>‹#›</a:t>
            </a:fld>
            <a:endParaRPr lang="en-US"/>
          </a:p>
        </p:txBody>
      </p:sp>
    </p:spTree>
    <p:extLst>
      <p:ext uri="{BB962C8B-B14F-4D97-AF65-F5344CB8AC3E}">
        <p14:creationId xmlns:p14="http://schemas.microsoft.com/office/powerpoint/2010/main" val="38297447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1892B1F5-2BB2-42BB-9BA7-467E1A58D056}" type="datetimeFigureOut">
              <a:rPr lang="en-US" smtClean="0"/>
              <a:t>6/8/2026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106890-58BD-4EFB-B8EC-D10566462008}"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329306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892B1F5-2BB2-42BB-9BA7-467E1A58D056}" type="datetimeFigureOut">
              <a:rPr lang="en-US" smtClean="0"/>
              <a:t>6/8/2026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106890-58BD-4EFB-B8EC-D10566462008}" type="slidenum">
              <a:rPr lang="en-US" smtClean="0"/>
              <a:t>‹#›</a:t>
            </a:fld>
            <a:endParaRPr lang="en-US"/>
          </a:p>
        </p:txBody>
      </p:sp>
    </p:spTree>
    <p:extLst>
      <p:ext uri="{BB962C8B-B14F-4D97-AF65-F5344CB8AC3E}">
        <p14:creationId xmlns:p14="http://schemas.microsoft.com/office/powerpoint/2010/main" val="13566502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92B1F5-2BB2-42BB-9BA7-467E1A58D056}" type="datetimeFigureOut">
              <a:rPr lang="en-US" smtClean="0"/>
              <a:t>6/8/2026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106890-58BD-4EFB-B8EC-D10566462008}" type="slidenum">
              <a:rPr lang="en-US" smtClean="0"/>
              <a:t>‹#›</a:t>
            </a:fld>
            <a:endParaRPr lang="en-US"/>
          </a:p>
        </p:txBody>
      </p:sp>
    </p:spTree>
    <p:extLst>
      <p:ext uri="{BB962C8B-B14F-4D97-AF65-F5344CB8AC3E}">
        <p14:creationId xmlns:p14="http://schemas.microsoft.com/office/powerpoint/2010/main" val="7976798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1892B1F5-2BB2-42BB-9BA7-467E1A58D056}" type="datetimeFigureOut">
              <a:rPr lang="en-US" smtClean="0"/>
              <a:t>6/8/2026</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27106890-58BD-4EFB-B8EC-D10566462008}" type="slidenum">
              <a:rPr lang="en-US" smtClean="0"/>
              <a:t>‹#›</a:t>
            </a:fld>
            <a:endParaRPr lang="en-US"/>
          </a:p>
        </p:txBody>
      </p:sp>
    </p:spTree>
    <p:extLst>
      <p:ext uri="{BB962C8B-B14F-4D97-AF65-F5344CB8AC3E}">
        <p14:creationId xmlns:p14="http://schemas.microsoft.com/office/powerpoint/2010/main" val="2170930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1892B1F5-2BB2-42BB-9BA7-467E1A58D056}" type="datetimeFigureOut">
              <a:rPr lang="en-US" smtClean="0"/>
              <a:t>6/8/2026</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27106890-58BD-4EFB-B8EC-D10566462008}" type="slidenum">
              <a:rPr lang="en-US" smtClean="0"/>
              <a:t>‹#›</a:t>
            </a:fld>
            <a:endParaRPr lang="en-US"/>
          </a:p>
        </p:txBody>
      </p:sp>
    </p:spTree>
    <p:extLst>
      <p:ext uri="{BB962C8B-B14F-4D97-AF65-F5344CB8AC3E}">
        <p14:creationId xmlns:p14="http://schemas.microsoft.com/office/powerpoint/2010/main" val="18955477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92B1F5-2BB2-42BB-9BA7-467E1A58D056}"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106890-58BD-4EFB-B8EC-D10566462008}" type="slidenum">
              <a:rPr lang="en-US" smtClean="0"/>
              <a:t>‹#›</a:t>
            </a:fld>
            <a:endParaRPr lang="en-US"/>
          </a:p>
        </p:txBody>
      </p:sp>
    </p:spTree>
    <p:extLst>
      <p:ext uri="{BB962C8B-B14F-4D97-AF65-F5344CB8AC3E}">
        <p14:creationId xmlns:p14="http://schemas.microsoft.com/office/powerpoint/2010/main" val="29700848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92B1F5-2BB2-42BB-9BA7-467E1A58D056}" type="datetimeFigureOut">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106890-58BD-4EFB-B8EC-D10566462008}" type="slidenum">
              <a:rPr lang="en-US" smtClean="0"/>
              <a:t>‹#›</a:t>
            </a:fld>
            <a:endParaRPr lang="en-US"/>
          </a:p>
        </p:txBody>
      </p:sp>
    </p:spTree>
    <p:extLst>
      <p:ext uri="{BB962C8B-B14F-4D97-AF65-F5344CB8AC3E}">
        <p14:creationId xmlns:p14="http://schemas.microsoft.com/office/powerpoint/2010/main" val="21268183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892B1F5-2BB2-42BB-9BA7-467E1A58D056}" type="datetimeFigureOut">
              <a:rPr lang="en-US" smtClean="0"/>
              <a:t>6/8/2026</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27106890-58BD-4EFB-B8EC-D10566462008}" type="slidenum">
              <a:rPr lang="en-US" smtClean="0"/>
              <a:t>‹#›</a:t>
            </a:fld>
            <a:endParaRPr lang="en-US"/>
          </a:p>
        </p:txBody>
      </p:sp>
    </p:spTree>
    <p:extLst>
      <p:ext uri="{BB962C8B-B14F-4D97-AF65-F5344CB8AC3E}">
        <p14:creationId xmlns:p14="http://schemas.microsoft.com/office/powerpoint/2010/main" val="225544288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E7CE5BA3-FB6F-BC46-8260-AA5EAA4C577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57913"/>
            <a:ext cx="12290858" cy="6915913"/>
          </a:xfrm>
          <a:prstGeom prst="rect">
            <a:avLst/>
          </a:prstGeom>
        </p:spPr>
      </p:pic>
      <p:sp>
        <p:nvSpPr>
          <p:cNvPr id="8" name="Title 1">
            <a:extLst>
              <a:ext uri="{FF2B5EF4-FFF2-40B4-BE49-F238E27FC236}">
                <a16:creationId xmlns:a16="http://schemas.microsoft.com/office/drawing/2014/main" id="{97127B78-3E27-41A1-2F44-0F5042225621}"/>
              </a:ext>
            </a:extLst>
          </p:cNvPr>
          <p:cNvSpPr txBox="1">
            <a:spLocks/>
          </p:cNvSpPr>
          <p:nvPr/>
        </p:nvSpPr>
        <p:spPr bwMode="black">
          <a:xfrm>
            <a:off x="1524000" y="839725"/>
            <a:ext cx="9144000" cy="242549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a:lstStyle>
          <a:p>
            <a:r>
              <a:rPr lang="en-US" b="1" dirty="0"/>
              <a:t>Chapter 13</a:t>
            </a:r>
            <a:br>
              <a:rPr lang="en-US" b="1" dirty="0"/>
            </a:br>
            <a:r>
              <a:rPr lang="en-US" b="1" dirty="0"/>
              <a:t>Software Maintenance</a:t>
            </a:r>
            <a:br>
              <a:rPr lang="en-US" b="1" dirty="0"/>
            </a:br>
            <a:r>
              <a:rPr lang="en-US" b="1" dirty="0"/>
              <a:t>Part I</a:t>
            </a:r>
          </a:p>
        </p:txBody>
      </p:sp>
      <p:sp>
        <p:nvSpPr>
          <p:cNvPr id="9" name="Subtitle 2">
            <a:extLst>
              <a:ext uri="{FF2B5EF4-FFF2-40B4-BE49-F238E27FC236}">
                <a16:creationId xmlns:a16="http://schemas.microsoft.com/office/drawing/2014/main" id="{363D75D2-F81D-C852-D5FE-AE345EDFCF4C}"/>
              </a:ext>
            </a:extLst>
          </p:cNvPr>
          <p:cNvSpPr txBox="1">
            <a:spLocks/>
          </p:cNvSpPr>
          <p:nvPr/>
        </p:nvSpPr>
        <p:spPr>
          <a:xfrm>
            <a:off x="1524000" y="3592786"/>
            <a:ext cx="9144000" cy="812306"/>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a:t>Fundamentals of Software Engineering, 5</a:t>
            </a:r>
            <a:r>
              <a:rPr lang="en-US" baseline="30000"/>
              <a:t>th</a:t>
            </a:r>
            <a:r>
              <a:rPr lang="en-US"/>
              <a:t> Edition, Rajib Mall, PHI Learning Private Limited, 2018</a:t>
            </a:r>
          </a:p>
          <a:p>
            <a:endParaRPr lang="en-US" dirty="0"/>
          </a:p>
        </p:txBody>
      </p:sp>
      <p:sp>
        <p:nvSpPr>
          <p:cNvPr id="10" name="TextBox 9">
            <a:extLst>
              <a:ext uri="{FF2B5EF4-FFF2-40B4-BE49-F238E27FC236}">
                <a16:creationId xmlns:a16="http://schemas.microsoft.com/office/drawing/2014/main" id="{C43E1473-00BC-FEFF-F658-BC8D5D1B83CC}"/>
              </a:ext>
            </a:extLst>
          </p:cNvPr>
          <p:cNvSpPr txBox="1"/>
          <p:nvPr/>
        </p:nvSpPr>
        <p:spPr>
          <a:xfrm>
            <a:off x="8547652" y="4795126"/>
            <a:ext cx="2846933" cy="923330"/>
          </a:xfrm>
          <a:prstGeom prst="rect">
            <a:avLst/>
          </a:prstGeom>
          <a:noFill/>
        </p:spPr>
        <p:txBody>
          <a:bodyPr wrap="square" rtlCol="0">
            <a:spAutoFit/>
          </a:bodyPr>
          <a:lstStyle/>
          <a:p>
            <a:r>
              <a:rPr lang="en-US" dirty="0" err="1"/>
              <a:t>Dr.Nilar</a:t>
            </a:r>
            <a:r>
              <a:rPr lang="en-US" dirty="0"/>
              <a:t> Aye</a:t>
            </a:r>
          </a:p>
          <a:p>
            <a:r>
              <a:rPr lang="en-US" dirty="0"/>
              <a:t>Professor</a:t>
            </a:r>
          </a:p>
          <a:p>
            <a:r>
              <a:rPr lang="en-US" dirty="0"/>
              <a:t>FIS</a:t>
            </a:r>
          </a:p>
        </p:txBody>
      </p:sp>
    </p:spTree>
    <p:extLst>
      <p:ext uri="{BB962C8B-B14F-4D97-AF65-F5344CB8AC3E}">
        <p14:creationId xmlns:p14="http://schemas.microsoft.com/office/powerpoint/2010/main" val="2087286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8EC2AF4-1248-48D2-E500-355458D56DC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
            <a:ext cx="12192000" cy="6860287"/>
          </a:xfrm>
          <a:prstGeom prst="rect">
            <a:avLst/>
          </a:prstGeom>
        </p:spPr>
      </p:pic>
      <p:pic>
        <p:nvPicPr>
          <p:cNvPr id="6" name="Picture 5">
            <a:extLst>
              <a:ext uri="{FF2B5EF4-FFF2-40B4-BE49-F238E27FC236}">
                <a16:creationId xmlns:a16="http://schemas.microsoft.com/office/drawing/2014/main" id="{AF5D4DB9-9471-201D-7CD4-1705B517442C}"/>
              </a:ext>
            </a:extLst>
          </p:cNvPr>
          <p:cNvPicPr>
            <a:picLocks noChangeAspect="1"/>
          </p:cNvPicPr>
          <p:nvPr/>
        </p:nvPicPr>
        <p:blipFill>
          <a:blip r:embed="rId3"/>
          <a:stretch>
            <a:fillRect/>
          </a:stretch>
        </p:blipFill>
        <p:spPr>
          <a:xfrm>
            <a:off x="2445299" y="365125"/>
            <a:ext cx="7588048" cy="5865102"/>
          </a:xfrm>
          <a:prstGeom prst="rect">
            <a:avLst/>
          </a:prstGeom>
        </p:spPr>
      </p:pic>
    </p:spTree>
    <p:extLst>
      <p:ext uri="{BB962C8B-B14F-4D97-AF65-F5344CB8AC3E}">
        <p14:creationId xmlns:p14="http://schemas.microsoft.com/office/powerpoint/2010/main" val="32754803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16818-2CA7-AD40-643F-DE2F8AB90643}"/>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BAF6AAF-C4E6-0F16-9394-895BE5A6DC2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
            <a:ext cx="12192000" cy="6860287"/>
          </a:xfrm>
          <a:prstGeom prst="rect">
            <a:avLst/>
          </a:prstGeom>
        </p:spPr>
      </p:pic>
      <p:pic>
        <p:nvPicPr>
          <p:cNvPr id="2" name="Picture 1">
            <a:extLst>
              <a:ext uri="{FF2B5EF4-FFF2-40B4-BE49-F238E27FC236}">
                <a16:creationId xmlns:a16="http://schemas.microsoft.com/office/drawing/2014/main" id="{7C88DCC1-61C1-1DCF-0E06-BDE77A05EDDD}"/>
              </a:ext>
            </a:extLst>
          </p:cNvPr>
          <p:cNvPicPr>
            <a:picLocks noChangeAspect="1"/>
          </p:cNvPicPr>
          <p:nvPr/>
        </p:nvPicPr>
        <p:blipFill>
          <a:blip r:embed="rId3"/>
          <a:stretch>
            <a:fillRect/>
          </a:stretch>
        </p:blipFill>
        <p:spPr>
          <a:xfrm>
            <a:off x="1672873" y="340141"/>
            <a:ext cx="9159765" cy="5836822"/>
          </a:xfrm>
          <a:prstGeom prst="rect">
            <a:avLst/>
          </a:prstGeom>
        </p:spPr>
      </p:pic>
    </p:spTree>
    <p:extLst>
      <p:ext uri="{BB962C8B-B14F-4D97-AF65-F5344CB8AC3E}">
        <p14:creationId xmlns:p14="http://schemas.microsoft.com/office/powerpoint/2010/main" val="22840904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78FC2-9CAE-AB05-E8E0-71697944AD88}"/>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491A0B5-7873-EC57-26B7-B7E6FD3349E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
            <a:ext cx="12192000" cy="6860287"/>
          </a:xfrm>
          <a:prstGeom prst="rect">
            <a:avLst/>
          </a:prstGeom>
        </p:spPr>
      </p:pic>
      <p:sp>
        <p:nvSpPr>
          <p:cNvPr id="2" name="Title 1">
            <a:extLst>
              <a:ext uri="{FF2B5EF4-FFF2-40B4-BE49-F238E27FC236}">
                <a16:creationId xmlns:a16="http://schemas.microsoft.com/office/drawing/2014/main" id="{5F52AD20-C99E-0788-0AD4-6B2C13A61D3D}"/>
              </a:ext>
            </a:extLst>
          </p:cNvPr>
          <p:cNvSpPr>
            <a:spLocks noGrp="1"/>
          </p:cNvSpPr>
          <p:nvPr>
            <p:ph type="title"/>
          </p:nvPr>
        </p:nvSpPr>
        <p:spPr>
          <a:xfrm>
            <a:off x="838200" y="252247"/>
            <a:ext cx="10515600" cy="675398"/>
          </a:xfrm>
        </p:spPr>
        <p:txBody>
          <a:bodyPr>
            <a:normAutofit fontScale="90000"/>
          </a:bodyPr>
          <a:lstStyle/>
          <a:p>
            <a:r>
              <a:rPr lang="en-US" b="1" dirty="0"/>
              <a:t>Introduction</a:t>
            </a:r>
          </a:p>
        </p:txBody>
      </p:sp>
      <p:sp>
        <p:nvSpPr>
          <p:cNvPr id="3" name="Content Placeholder 2">
            <a:extLst>
              <a:ext uri="{FF2B5EF4-FFF2-40B4-BE49-F238E27FC236}">
                <a16:creationId xmlns:a16="http://schemas.microsoft.com/office/drawing/2014/main" id="{A0E9F7BF-9926-4F2E-89BF-A1AD94A62EAA}"/>
              </a:ext>
            </a:extLst>
          </p:cNvPr>
          <p:cNvSpPr txBox="1">
            <a:spLocks/>
          </p:cNvSpPr>
          <p:nvPr/>
        </p:nvSpPr>
        <p:spPr>
          <a:xfrm>
            <a:off x="1257300" y="915838"/>
            <a:ext cx="10515600" cy="545235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r>
              <a:rPr lang="en-US" sz="2400" dirty="0"/>
              <a:t>Software maintenance:</a:t>
            </a:r>
          </a:p>
          <a:p>
            <a:pPr marL="693738" indent="-300038"/>
            <a:r>
              <a:rPr lang="en-US" sz="2400" dirty="0"/>
              <a:t>Any modifications to a software product after it has been delivered to the customer</a:t>
            </a:r>
          </a:p>
          <a:p>
            <a:r>
              <a:rPr lang="en-US" sz="2400" dirty="0"/>
              <a:t>Maintenance is inevitable for almost any kind of product.</a:t>
            </a:r>
          </a:p>
          <a:p>
            <a:r>
              <a:rPr lang="en-US" sz="2400" dirty="0"/>
              <a:t>Most products need maintenance:</a:t>
            </a:r>
          </a:p>
          <a:p>
            <a:pPr marL="741363" indent="-347663"/>
            <a:r>
              <a:rPr lang="en-US" sz="2400" dirty="0"/>
              <a:t>Due to wear and tear caused by use</a:t>
            </a:r>
          </a:p>
          <a:p>
            <a:r>
              <a:rPr lang="en-US" sz="2400" dirty="0"/>
              <a:t>Software products do not need maintenance on this count</a:t>
            </a:r>
          </a:p>
          <a:p>
            <a:pPr marL="236538" indent="-236538"/>
            <a:r>
              <a:rPr lang="en-US" sz="2400" dirty="0"/>
              <a:t>Many people think</a:t>
            </a:r>
          </a:p>
          <a:p>
            <a:pPr marL="741363" indent="-347663"/>
            <a:r>
              <a:rPr lang="en-US" sz="2400" dirty="0"/>
              <a:t>Only bad software products need maintenance</a:t>
            </a:r>
          </a:p>
          <a:p>
            <a:r>
              <a:rPr lang="en-US" sz="2400" dirty="0"/>
              <a:t>The opposite is true</a:t>
            </a:r>
          </a:p>
          <a:p>
            <a:pPr marL="741363" indent="-347663"/>
            <a:r>
              <a:rPr lang="en-US" sz="2400" dirty="0"/>
              <a:t>Bad products are thrown away</a:t>
            </a:r>
          </a:p>
          <a:p>
            <a:pPr marL="741363" indent="-347663"/>
            <a:r>
              <a:rPr lang="en-US" sz="2400" dirty="0"/>
              <a:t>Good products are maintained and used for a  long time</a:t>
            </a:r>
          </a:p>
        </p:txBody>
      </p:sp>
    </p:spTree>
    <p:extLst>
      <p:ext uri="{BB962C8B-B14F-4D97-AF65-F5344CB8AC3E}">
        <p14:creationId xmlns:p14="http://schemas.microsoft.com/office/powerpoint/2010/main" val="24060509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C8C7B-F9D7-D58A-88CC-DC015F24D9B8}"/>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8707155-CBD5-EDAF-312C-0021FB06A77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
            <a:ext cx="12192000" cy="6860287"/>
          </a:xfrm>
          <a:prstGeom prst="rect">
            <a:avLst/>
          </a:prstGeom>
        </p:spPr>
      </p:pic>
      <p:sp>
        <p:nvSpPr>
          <p:cNvPr id="2" name="Title 1">
            <a:extLst>
              <a:ext uri="{FF2B5EF4-FFF2-40B4-BE49-F238E27FC236}">
                <a16:creationId xmlns:a16="http://schemas.microsoft.com/office/drawing/2014/main" id="{F0480671-798D-A4C6-5B5B-33E60633A6FE}"/>
              </a:ext>
            </a:extLst>
          </p:cNvPr>
          <p:cNvSpPr>
            <a:spLocks noGrp="1"/>
          </p:cNvSpPr>
          <p:nvPr>
            <p:ph type="title"/>
          </p:nvPr>
        </p:nvSpPr>
        <p:spPr>
          <a:xfrm>
            <a:off x="838200" y="252247"/>
            <a:ext cx="10515600" cy="675398"/>
          </a:xfrm>
        </p:spPr>
        <p:txBody>
          <a:bodyPr>
            <a:normAutofit fontScale="90000"/>
          </a:bodyPr>
          <a:lstStyle/>
          <a:p>
            <a:r>
              <a:rPr lang="en-US" b="1" dirty="0"/>
              <a:t>Introduction</a:t>
            </a:r>
          </a:p>
        </p:txBody>
      </p:sp>
      <p:sp>
        <p:nvSpPr>
          <p:cNvPr id="3" name="Content Placeholder 2">
            <a:extLst>
              <a:ext uri="{FF2B5EF4-FFF2-40B4-BE49-F238E27FC236}">
                <a16:creationId xmlns:a16="http://schemas.microsoft.com/office/drawing/2014/main" id="{71D55568-D093-0DED-E28E-F305CF9312FE}"/>
              </a:ext>
            </a:extLst>
          </p:cNvPr>
          <p:cNvSpPr txBox="1">
            <a:spLocks/>
          </p:cNvSpPr>
          <p:nvPr/>
        </p:nvSpPr>
        <p:spPr>
          <a:xfrm>
            <a:off x="1301663" y="1179893"/>
            <a:ext cx="9808923" cy="3172260"/>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algn="just"/>
            <a:r>
              <a:rPr lang="en-US" sz="2400" dirty="0"/>
              <a:t>Software maintenance is the last stage of software life cycle.</a:t>
            </a:r>
          </a:p>
          <a:p>
            <a:pPr algn="just"/>
            <a:r>
              <a:rPr lang="en-US" sz="2400" dirty="0"/>
              <a:t>After the product has been released, the maintenance phrase keeps the software up to date with environment changes &amp; changing user requirements.</a:t>
            </a:r>
          </a:p>
          <a:p>
            <a:pPr algn="just"/>
            <a:r>
              <a:rPr lang="en-US" sz="2400" dirty="0"/>
              <a:t>It consumes about 40-70% of the cost of the entire life cycle.</a:t>
            </a:r>
          </a:p>
          <a:p>
            <a:pPr algn="just"/>
            <a:r>
              <a:rPr lang="en-US" sz="2400" dirty="0"/>
              <a:t>Typically, the development cycle for a software product spans 1 or 2 years, while the maintenance phrase spans 5 to 10 years.</a:t>
            </a:r>
          </a:p>
        </p:txBody>
      </p:sp>
    </p:spTree>
    <p:extLst>
      <p:ext uri="{BB962C8B-B14F-4D97-AF65-F5344CB8AC3E}">
        <p14:creationId xmlns:p14="http://schemas.microsoft.com/office/powerpoint/2010/main" val="2146345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8FE14-890C-C8CD-D6E9-BEA8F9D103F8}"/>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831F92B-903F-2EEB-11EB-167CE65A549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
            <a:ext cx="12192000" cy="6860287"/>
          </a:xfrm>
          <a:prstGeom prst="rect">
            <a:avLst/>
          </a:prstGeom>
        </p:spPr>
      </p:pic>
      <p:sp>
        <p:nvSpPr>
          <p:cNvPr id="2" name="Title 1">
            <a:extLst>
              <a:ext uri="{FF2B5EF4-FFF2-40B4-BE49-F238E27FC236}">
                <a16:creationId xmlns:a16="http://schemas.microsoft.com/office/drawing/2014/main" id="{096CE39D-8ACF-14CC-741F-560F5C08A2D2}"/>
              </a:ext>
            </a:extLst>
          </p:cNvPr>
          <p:cNvSpPr>
            <a:spLocks noGrp="1"/>
          </p:cNvSpPr>
          <p:nvPr>
            <p:ph type="title"/>
          </p:nvPr>
        </p:nvSpPr>
        <p:spPr>
          <a:xfrm>
            <a:off x="2231136" y="238183"/>
            <a:ext cx="8804294" cy="801478"/>
          </a:xfrm>
        </p:spPr>
        <p:txBody>
          <a:bodyPr/>
          <a:lstStyle/>
          <a:p>
            <a:r>
              <a:rPr lang="en-US" b="1" dirty="0"/>
              <a:t>What is software maintenance?</a:t>
            </a:r>
          </a:p>
        </p:txBody>
      </p:sp>
      <p:sp>
        <p:nvSpPr>
          <p:cNvPr id="3" name="Content Placeholder 2">
            <a:extLst>
              <a:ext uri="{FF2B5EF4-FFF2-40B4-BE49-F238E27FC236}">
                <a16:creationId xmlns:a16="http://schemas.microsoft.com/office/drawing/2014/main" id="{5208D480-FAD3-9336-8277-7EF2260BE8A5}"/>
              </a:ext>
            </a:extLst>
          </p:cNvPr>
          <p:cNvSpPr txBox="1">
            <a:spLocks/>
          </p:cNvSpPr>
          <p:nvPr/>
        </p:nvSpPr>
        <p:spPr>
          <a:xfrm>
            <a:off x="1980615" y="1415441"/>
            <a:ext cx="9054815" cy="2530258"/>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a:lstStyle>
          <a:p>
            <a:pPr algn="just"/>
            <a:r>
              <a:rPr lang="en-US" sz="2400" dirty="0"/>
              <a:t>Software maintenance is a very broad activity that includes error corrections, enhancement of capabilities, deletion of </a:t>
            </a:r>
            <a:r>
              <a:rPr lang="en-US" sz="2400" dirty="0" err="1"/>
              <a:t>obslote</a:t>
            </a:r>
            <a:r>
              <a:rPr lang="en-US" sz="2400" dirty="0"/>
              <a:t> capabilities, and optimization.</a:t>
            </a:r>
          </a:p>
          <a:p>
            <a:pPr algn="just"/>
            <a:r>
              <a:rPr lang="en-US" sz="2400" dirty="0"/>
              <a:t>As per IEEE, it is modification of software product after delivery to correct faults, to improve performance or other attributes or to adapt the product to a modified environment.</a:t>
            </a:r>
          </a:p>
        </p:txBody>
      </p:sp>
    </p:spTree>
    <p:extLst>
      <p:ext uri="{BB962C8B-B14F-4D97-AF65-F5344CB8AC3E}">
        <p14:creationId xmlns:p14="http://schemas.microsoft.com/office/powerpoint/2010/main" val="3768094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BD46E-973A-A4CA-B3AA-439C38F33A0F}"/>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46E4005-101D-D45A-7F52-78665437ED2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
            <a:ext cx="12192000" cy="6860287"/>
          </a:xfrm>
          <a:prstGeom prst="rect">
            <a:avLst/>
          </a:prstGeom>
        </p:spPr>
      </p:pic>
    </p:spTree>
    <p:extLst>
      <p:ext uri="{BB962C8B-B14F-4D97-AF65-F5344CB8AC3E}">
        <p14:creationId xmlns:p14="http://schemas.microsoft.com/office/powerpoint/2010/main" val="3517285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337B8-F79A-9849-4F83-E8165669693C}"/>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F6DC4AC-B84A-F421-39C9-08628BA27F8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
            <a:ext cx="12192000" cy="6860287"/>
          </a:xfrm>
          <a:prstGeom prst="rect">
            <a:avLst/>
          </a:prstGeom>
        </p:spPr>
      </p:pic>
    </p:spTree>
    <p:extLst>
      <p:ext uri="{BB962C8B-B14F-4D97-AF65-F5344CB8AC3E}">
        <p14:creationId xmlns:p14="http://schemas.microsoft.com/office/powerpoint/2010/main" val="14336741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D7553-8AC7-F9A9-55E5-884A26208E76}"/>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DCE2A65-760E-C9D5-8C6C-659287A55C4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
            <a:ext cx="12192000" cy="6860287"/>
          </a:xfrm>
          <a:prstGeom prst="rect">
            <a:avLst/>
          </a:prstGeom>
        </p:spPr>
      </p:pic>
    </p:spTree>
    <p:extLst>
      <p:ext uri="{BB962C8B-B14F-4D97-AF65-F5344CB8AC3E}">
        <p14:creationId xmlns:p14="http://schemas.microsoft.com/office/powerpoint/2010/main" val="35698724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8226E-0178-AB71-44D5-64CE12755862}"/>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8846DFF-53A2-E3F1-AE17-289AD22D169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
            <a:ext cx="12192000" cy="6860287"/>
          </a:xfrm>
          <a:prstGeom prst="rect">
            <a:avLst/>
          </a:prstGeom>
        </p:spPr>
      </p:pic>
    </p:spTree>
    <p:extLst>
      <p:ext uri="{BB962C8B-B14F-4D97-AF65-F5344CB8AC3E}">
        <p14:creationId xmlns:p14="http://schemas.microsoft.com/office/powerpoint/2010/main" val="28415271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9802E-6669-781E-ECA4-527C7FF44B6F}"/>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286DC02-90B2-5EFE-B187-2B4B50C2F0A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
            <a:ext cx="12192000" cy="6860287"/>
          </a:xfrm>
          <a:prstGeom prst="rect">
            <a:avLst/>
          </a:prstGeom>
        </p:spPr>
      </p:pic>
    </p:spTree>
    <p:extLst>
      <p:ext uri="{BB962C8B-B14F-4D97-AF65-F5344CB8AC3E}">
        <p14:creationId xmlns:p14="http://schemas.microsoft.com/office/powerpoint/2010/main" val="35460857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464E3-BCAE-192E-8089-4C0ABCA9ABAF}"/>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C63F03F-0018-E3E2-5FA4-4B95E36CBC2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
            <a:ext cx="12192000" cy="6860287"/>
          </a:xfrm>
          <a:prstGeom prst="rect">
            <a:avLst/>
          </a:prstGeom>
        </p:spPr>
      </p:pic>
    </p:spTree>
    <p:extLst>
      <p:ext uri="{BB962C8B-B14F-4D97-AF65-F5344CB8AC3E}">
        <p14:creationId xmlns:p14="http://schemas.microsoft.com/office/powerpoint/2010/main" val="34890341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E756DD-D8A7-78C1-28F9-B49CF2E9195C}"/>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00209E3-E544-0006-6116-89AE3F18190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
            <a:ext cx="12192000" cy="6860287"/>
          </a:xfrm>
          <a:prstGeom prst="rect">
            <a:avLst/>
          </a:prstGeom>
        </p:spPr>
      </p:pic>
    </p:spTree>
    <p:extLst>
      <p:ext uri="{BB962C8B-B14F-4D97-AF65-F5344CB8AC3E}">
        <p14:creationId xmlns:p14="http://schemas.microsoft.com/office/powerpoint/2010/main" val="30234578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170B8-26F2-8590-BD0D-42D397DDA62F}"/>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808DC30-904D-7E12-79E5-070FBBEDE34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
            <a:ext cx="12192000" cy="6860287"/>
          </a:xfrm>
          <a:prstGeom prst="rect">
            <a:avLst/>
          </a:prstGeom>
        </p:spPr>
      </p:pic>
    </p:spTree>
    <p:extLst>
      <p:ext uri="{BB962C8B-B14F-4D97-AF65-F5344CB8AC3E}">
        <p14:creationId xmlns:p14="http://schemas.microsoft.com/office/powerpoint/2010/main" val="8805873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02CA0-F904-3262-2F9E-63803A06EAE1}"/>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090B2E3-B8B8-89E8-9312-18EA2FC566D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
            <a:ext cx="12192000" cy="6860287"/>
          </a:xfrm>
          <a:prstGeom prst="rect">
            <a:avLst/>
          </a:prstGeom>
        </p:spPr>
      </p:pic>
    </p:spTree>
    <p:extLst>
      <p:ext uri="{BB962C8B-B14F-4D97-AF65-F5344CB8AC3E}">
        <p14:creationId xmlns:p14="http://schemas.microsoft.com/office/powerpoint/2010/main" val="16795894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288C6-42CD-CAAA-B156-0E6ADECA8E9B}"/>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41B6C8A-7329-92D7-7B75-8D3126D5D6B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
            <a:ext cx="12192000" cy="6860287"/>
          </a:xfrm>
          <a:prstGeom prst="rect">
            <a:avLst/>
          </a:prstGeom>
        </p:spPr>
      </p:pic>
    </p:spTree>
    <p:extLst>
      <p:ext uri="{BB962C8B-B14F-4D97-AF65-F5344CB8AC3E}">
        <p14:creationId xmlns:p14="http://schemas.microsoft.com/office/powerpoint/2010/main" val="19084156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03079-C6D6-D9A0-83EE-B3767002AFCD}"/>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7F0C9A2-A007-7412-1C80-D4285384B5C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
            <a:ext cx="12192000" cy="6860287"/>
          </a:xfrm>
          <a:prstGeom prst="rect">
            <a:avLst/>
          </a:prstGeom>
        </p:spPr>
      </p:pic>
    </p:spTree>
    <p:extLst>
      <p:ext uri="{BB962C8B-B14F-4D97-AF65-F5344CB8AC3E}">
        <p14:creationId xmlns:p14="http://schemas.microsoft.com/office/powerpoint/2010/main" val="33724545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E9CD0-9F93-A590-C67A-D1805346DE37}"/>
              </a:ext>
            </a:extLst>
          </p:cNvPr>
          <p:cNvSpPr>
            <a:spLocks noGrp="1"/>
          </p:cNvSpPr>
          <p:nvPr>
            <p:ph type="title"/>
          </p:nvPr>
        </p:nvSpPr>
        <p:spPr>
          <a:xfrm>
            <a:off x="838200" y="252247"/>
            <a:ext cx="10515600" cy="675398"/>
          </a:xfrm>
        </p:spPr>
        <p:txBody>
          <a:bodyPr>
            <a:normAutofit fontScale="90000"/>
          </a:bodyPr>
          <a:lstStyle/>
          <a:p>
            <a:r>
              <a:rPr lang="en-US" b="1" dirty="0"/>
              <a:t>Introduction</a:t>
            </a:r>
          </a:p>
        </p:txBody>
      </p:sp>
      <p:sp>
        <p:nvSpPr>
          <p:cNvPr id="3" name="Content Placeholder 2">
            <a:extLst>
              <a:ext uri="{FF2B5EF4-FFF2-40B4-BE49-F238E27FC236}">
                <a16:creationId xmlns:a16="http://schemas.microsoft.com/office/drawing/2014/main" id="{B6899991-7C15-CC7D-6022-3E4181EB5469}"/>
              </a:ext>
            </a:extLst>
          </p:cNvPr>
          <p:cNvSpPr>
            <a:spLocks noGrp="1"/>
          </p:cNvSpPr>
          <p:nvPr>
            <p:ph idx="1"/>
          </p:nvPr>
        </p:nvSpPr>
        <p:spPr>
          <a:xfrm>
            <a:off x="838200" y="927645"/>
            <a:ext cx="10515600" cy="5452350"/>
          </a:xfrm>
        </p:spPr>
        <p:txBody>
          <a:bodyPr>
            <a:normAutofit lnSpcReduction="10000"/>
          </a:bodyPr>
          <a:lstStyle/>
          <a:p>
            <a:r>
              <a:rPr lang="en-US" sz="2400" dirty="0"/>
              <a:t>Software maintenance:</a:t>
            </a:r>
          </a:p>
          <a:p>
            <a:pPr marL="693738" indent="-300038"/>
            <a:r>
              <a:rPr lang="en-US" sz="2400" dirty="0"/>
              <a:t>Any modifications to a software product after it has been delivered to the customer</a:t>
            </a:r>
          </a:p>
          <a:p>
            <a:r>
              <a:rPr lang="en-US" sz="2400" dirty="0"/>
              <a:t>Maintenance is inevitable for almost any kind of product.</a:t>
            </a:r>
          </a:p>
          <a:p>
            <a:r>
              <a:rPr lang="en-US" sz="2400" dirty="0"/>
              <a:t>Most products need maintenance:</a:t>
            </a:r>
          </a:p>
          <a:p>
            <a:pPr marL="741363" indent="-347663"/>
            <a:r>
              <a:rPr lang="en-US" sz="2400" dirty="0"/>
              <a:t>Due to wear and tear caused by use</a:t>
            </a:r>
          </a:p>
          <a:p>
            <a:r>
              <a:rPr lang="en-US" sz="2400" dirty="0"/>
              <a:t>Software products do not need maintenance on this count</a:t>
            </a:r>
          </a:p>
          <a:p>
            <a:pPr marL="236538" indent="-236538"/>
            <a:r>
              <a:rPr lang="en-US" sz="2400" dirty="0"/>
              <a:t>Many people think</a:t>
            </a:r>
          </a:p>
          <a:p>
            <a:pPr marL="741363" indent="-347663"/>
            <a:r>
              <a:rPr lang="en-US" sz="2400" dirty="0"/>
              <a:t>Only bad software products need maintenance</a:t>
            </a:r>
          </a:p>
          <a:p>
            <a:r>
              <a:rPr lang="en-US" sz="2400" dirty="0"/>
              <a:t>The opposite is true</a:t>
            </a:r>
          </a:p>
          <a:p>
            <a:pPr marL="741363" indent="-347663"/>
            <a:r>
              <a:rPr lang="en-US" sz="2400" dirty="0"/>
              <a:t>Bad products are thrown away</a:t>
            </a:r>
          </a:p>
          <a:p>
            <a:pPr marL="741363" indent="-347663"/>
            <a:r>
              <a:rPr lang="en-US" sz="2400" dirty="0"/>
              <a:t>Good products are maintained and used for a  long time</a:t>
            </a:r>
          </a:p>
        </p:txBody>
      </p:sp>
    </p:spTree>
    <p:extLst>
      <p:ext uri="{BB962C8B-B14F-4D97-AF65-F5344CB8AC3E}">
        <p14:creationId xmlns:p14="http://schemas.microsoft.com/office/powerpoint/2010/main" val="33602807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0CE45-02FB-980C-4223-6F63A7A9A33A}"/>
              </a:ext>
            </a:extLst>
          </p:cNvPr>
          <p:cNvSpPr>
            <a:spLocks noGrp="1"/>
          </p:cNvSpPr>
          <p:nvPr>
            <p:ph type="title"/>
          </p:nvPr>
        </p:nvSpPr>
        <p:spPr>
          <a:xfrm>
            <a:off x="2231136" y="526281"/>
            <a:ext cx="7729728" cy="1188720"/>
          </a:xfrm>
        </p:spPr>
        <p:txBody>
          <a:bodyPr/>
          <a:lstStyle/>
          <a:p>
            <a:r>
              <a:rPr lang="en-US" b="1" dirty="0"/>
              <a:t>Introduction</a:t>
            </a:r>
          </a:p>
        </p:txBody>
      </p:sp>
      <p:sp>
        <p:nvSpPr>
          <p:cNvPr id="3" name="Content Placeholder 2">
            <a:extLst>
              <a:ext uri="{FF2B5EF4-FFF2-40B4-BE49-F238E27FC236}">
                <a16:creationId xmlns:a16="http://schemas.microsoft.com/office/drawing/2014/main" id="{081D9756-2327-F3A2-8DEC-2E6D2FD963ED}"/>
              </a:ext>
            </a:extLst>
          </p:cNvPr>
          <p:cNvSpPr>
            <a:spLocks noGrp="1"/>
          </p:cNvSpPr>
          <p:nvPr>
            <p:ph idx="1"/>
          </p:nvPr>
        </p:nvSpPr>
        <p:spPr>
          <a:xfrm>
            <a:off x="838200" y="1825625"/>
            <a:ext cx="10515600" cy="2714844"/>
          </a:xfrm>
        </p:spPr>
        <p:txBody>
          <a:bodyPr>
            <a:normAutofit/>
          </a:bodyPr>
          <a:lstStyle/>
          <a:p>
            <a:pPr algn="just"/>
            <a:r>
              <a:rPr lang="en-US" sz="2400" dirty="0"/>
              <a:t>Software maintenance is the last stage of software life cycle.</a:t>
            </a:r>
          </a:p>
          <a:p>
            <a:pPr algn="just"/>
            <a:r>
              <a:rPr lang="en-US" sz="2400" dirty="0"/>
              <a:t>After the product has been released, the maintenance phrase keeps the software up to date with environment changes &amp; changing user requirements.</a:t>
            </a:r>
          </a:p>
          <a:p>
            <a:pPr algn="just"/>
            <a:r>
              <a:rPr lang="en-US" sz="2400" dirty="0"/>
              <a:t>It consumes about 40-70% of the cost of the entire life cycle.</a:t>
            </a:r>
          </a:p>
          <a:p>
            <a:pPr algn="just"/>
            <a:r>
              <a:rPr lang="en-US" sz="2400" dirty="0"/>
              <a:t>Typically, the development cycle for a software product spans 1 or 2 years, while the maintenance phrase spans 5 to 10 years.</a:t>
            </a:r>
          </a:p>
        </p:txBody>
      </p:sp>
    </p:spTree>
    <p:extLst>
      <p:ext uri="{BB962C8B-B14F-4D97-AF65-F5344CB8AC3E}">
        <p14:creationId xmlns:p14="http://schemas.microsoft.com/office/powerpoint/2010/main" val="12323698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D4409-79AF-02F2-AA95-9ECB68F90BA4}"/>
              </a:ext>
            </a:extLst>
          </p:cNvPr>
          <p:cNvSpPr>
            <a:spLocks noGrp="1"/>
          </p:cNvSpPr>
          <p:nvPr>
            <p:ph type="title"/>
          </p:nvPr>
        </p:nvSpPr>
        <p:spPr>
          <a:xfrm>
            <a:off x="2231136" y="451125"/>
            <a:ext cx="7729728" cy="1188720"/>
          </a:xfrm>
        </p:spPr>
        <p:txBody>
          <a:bodyPr/>
          <a:lstStyle/>
          <a:p>
            <a:r>
              <a:rPr lang="en-US" b="1" dirty="0"/>
              <a:t>What is software maintenance?</a:t>
            </a:r>
          </a:p>
        </p:txBody>
      </p:sp>
      <p:sp>
        <p:nvSpPr>
          <p:cNvPr id="3" name="Content Placeholder 2">
            <a:extLst>
              <a:ext uri="{FF2B5EF4-FFF2-40B4-BE49-F238E27FC236}">
                <a16:creationId xmlns:a16="http://schemas.microsoft.com/office/drawing/2014/main" id="{3CCC03BD-3AAD-86B4-A5B9-BA708E90D506}"/>
              </a:ext>
            </a:extLst>
          </p:cNvPr>
          <p:cNvSpPr>
            <a:spLocks noGrp="1"/>
          </p:cNvSpPr>
          <p:nvPr>
            <p:ph idx="1"/>
          </p:nvPr>
        </p:nvSpPr>
        <p:spPr>
          <a:xfrm>
            <a:off x="838200" y="1825625"/>
            <a:ext cx="10515600" cy="2194582"/>
          </a:xfrm>
        </p:spPr>
        <p:txBody>
          <a:bodyPr>
            <a:normAutofit/>
          </a:bodyPr>
          <a:lstStyle/>
          <a:p>
            <a:pPr algn="just"/>
            <a:r>
              <a:rPr lang="en-US" sz="2400" dirty="0"/>
              <a:t>Software maintenance is a very broad activity that includes error corrections, enhancement of capabilities, deletion of </a:t>
            </a:r>
            <a:r>
              <a:rPr lang="en-US" sz="2400" dirty="0" err="1"/>
              <a:t>obslote</a:t>
            </a:r>
            <a:r>
              <a:rPr lang="en-US" sz="2400" dirty="0"/>
              <a:t> capabilities, and optimization.</a:t>
            </a:r>
          </a:p>
          <a:p>
            <a:pPr algn="just"/>
            <a:r>
              <a:rPr lang="en-US" sz="2400" dirty="0"/>
              <a:t>As per IEEE, it is modification of software product after delivery to correct faults, to improve performance or other attributes or to adapt the product to a modified environment.</a:t>
            </a:r>
          </a:p>
        </p:txBody>
      </p:sp>
    </p:spTree>
    <p:extLst>
      <p:ext uri="{BB962C8B-B14F-4D97-AF65-F5344CB8AC3E}">
        <p14:creationId xmlns:p14="http://schemas.microsoft.com/office/powerpoint/2010/main" val="35761560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0A96F-368E-9F09-18AF-8BF8D9832BE7}"/>
              </a:ext>
            </a:extLst>
          </p:cNvPr>
          <p:cNvSpPr>
            <a:spLocks noGrp="1"/>
          </p:cNvSpPr>
          <p:nvPr>
            <p:ph type="title"/>
          </p:nvPr>
        </p:nvSpPr>
        <p:spPr>
          <a:xfrm>
            <a:off x="2231136" y="175553"/>
            <a:ext cx="7729728" cy="1188720"/>
          </a:xfrm>
        </p:spPr>
        <p:txBody>
          <a:bodyPr/>
          <a:lstStyle/>
          <a:p>
            <a:r>
              <a:rPr lang="en-US" b="1" dirty="0"/>
              <a:t>Need for maintenance</a:t>
            </a:r>
          </a:p>
        </p:txBody>
      </p:sp>
      <p:sp>
        <p:nvSpPr>
          <p:cNvPr id="3" name="Content Placeholder 2">
            <a:extLst>
              <a:ext uri="{FF2B5EF4-FFF2-40B4-BE49-F238E27FC236}">
                <a16:creationId xmlns:a16="http://schemas.microsoft.com/office/drawing/2014/main" id="{A68D62C0-39DD-BA76-259A-2657E0D70657}"/>
              </a:ext>
            </a:extLst>
          </p:cNvPr>
          <p:cNvSpPr>
            <a:spLocks noGrp="1"/>
          </p:cNvSpPr>
          <p:nvPr>
            <p:ph idx="1"/>
          </p:nvPr>
        </p:nvSpPr>
        <p:spPr>
          <a:xfrm>
            <a:off x="838200" y="1825625"/>
            <a:ext cx="10515600" cy="2777906"/>
          </a:xfrm>
        </p:spPr>
        <p:txBody>
          <a:bodyPr>
            <a:normAutofit lnSpcReduction="10000"/>
          </a:bodyPr>
          <a:lstStyle/>
          <a:p>
            <a:r>
              <a:rPr lang="en-US" sz="2400" dirty="0"/>
              <a:t>Correct errors</a:t>
            </a:r>
          </a:p>
          <a:p>
            <a:r>
              <a:rPr lang="en-US" sz="2400" dirty="0"/>
              <a:t>Change is user requirement with time</a:t>
            </a:r>
          </a:p>
          <a:p>
            <a:r>
              <a:rPr lang="en-US" sz="2400" dirty="0"/>
              <a:t>Changing hardware and software environment</a:t>
            </a:r>
          </a:p>
          <a:p>
            <a:r>
              <a:rPr lang="en-US" sz="2400" dirty="0"/>
              <a:t>To improve system efficiency</a:t>
            </a:r>
          </a:p>
          <a:p>
            <a:r>
              <a:rPr lang="en-US" sz="2400" dirty="0"/>
              <a:t>To modify the components</a:t>
            </a:r>
          </a:p>
          <a:p>
            <a:r>
              <a:rPr lang="en-US" sz="2400" dirty="0"/>
              <a:t>To optimize the code to run faster</a:t>
            </a:r>
          </a:p>
        </p:txBody>
      </p:sp>
    </p:spTree>
    <p:extLst>
      <p:ext uri="{BB962C8B-B14F-4D97-AF65-F5344CB8AC3E}">
        <p14:creationId xmlns:p14="http://schemas.microsoft.com/office/powerpoint/2010/main" val="3457052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D0919-591C-2A3F-6FD8-F5608496DA64}"/>
              </a:ext>
            </a:extLst>
          </p:cNvPr>
          <p:cNvSpPr>
            <a:spLocks noGrp="1"/>
          </p:cNvSpPr>
          <p:nvPr>
            <p:ph type="title"/>
          </p:nvPr>
        </p:nvSpPr>
        <p:spPr>
          <a:xfrm>
            <a:off x="2231136" y="200604"/>
            <a:ext cx="7729728" cy="1188720"/>
          </a:xfrm>
        </p:spPr>
        <p:txBody>
          <a:bodyPr/>
          <a:lstStyle/>
          <a:p>
            <a:r>
              <a:rPr lang="en-US" b="1" dirty="0"/>
              <a:t>Aim of software maintenance</a:t>
            </a:r>
          </a:p>
        </p:txBody>
      </p:sp>
      <p:sp>
        <p:nvSpPr>
          <p:cNvPr id="3" name="Content Placeholder 2">
            <a:extLst>
              <a:ext uri="{FF2B5EF4-FFF2-40B4-BE49-F238E27FC236}">
                <a16:creationId xmlns:a16="http://schemas.microsoft.com/office/drawing/2014/main" id="{F45EAAE6-8B9F-F7B8-A362-A1A53AE010CA}"/>
              </a:ext>
            </a:extLst>
          </p:cNvPr>
          <p:cNvSpPr>
            <a:spLocks noGrp="1"/>
          </p:cNvSpPr>
          <p:nvPr>
            <p:ph idx="1"/>
          </p:nvPr>
        </p:nvSpPr>
        <p:spPr>
          <a:xfrm>
            <a:off x="838200" y="1825625"/>
            <a:ext cx="10515600" cy="2241878"/>
          </a:xfrm>
        </p:spPr>
        <p:txBody>
          <a:bodyPr>
            <a:normAutofit/>
          </a:bodyPr>
          <a:lstStyle/>
          <a:p>
            <a:r>
              <a:rPr lang="en-US" sz="2400" dirty="0"/>
              <a:t>To correct errors</a:t>
            </a:r>
          </a:p>
          <a:p>
            <a:r>
              <a:rPr lang="en-US" sz="2400" dirty="0"/>
              <a:t>To enhance the software by changing it’s function</a:t>
            </a:r>
          </a:p>
          <a:p>
            <a:r>
              <a:rPr lang="en-US" sz="2400" dirty="0"/>
              <a:t>To update the software</a:t>
            </a:r>
          </a:p>
          <a:p>
            <a:r>
              <a:rPr lang="en-US" sz="2400" dirty="0"/>
              <a:t>To adapt software to cope with changes in the environment</a:t>
            </a:r>
          </a:p>
        </p:txBody>
      </p:sp>
    </p:spTree>
    <p:extLst>
      <p:ext uri="{BB962C8B-B14F-4D97-AF65-F5344CB8AC3E}">
        <p14:creationId xmlns:p14="http://schemas.microsoft.com/office/powerpoint/2010/main" val="11203079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B681A-AF6D-29BE-9429-8659CD3FB55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DC558EB-DE62-BD10-4319-9386FE0ADAAA}"/>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392B7A11-D06C-FFB8-B173-C7F1CC052371}"/>
              </a:ext>
            </a:extLst>
          </p:cNvPr>
          <p:cNvPicPr>
            <a:picLocks noChangeAspect="1"/>
          </p:cNvPicPr>
          <p:nvPr/>
        </p:nvPicPr>
        <p:blipFill>
          <a:blip r:embed="rId2"/>
          <a:stretch>
            <a:fillRect/>
          </a:stretch>
        </p:blipFill>
        <p:spPr>
          <a:xfrm>
            <a:off x="965673" y="365125"/>
            <a:ext cx="10260653" cy="5837056"/>
          </a:xfrm>
          <a:prstGeom prst="rect">
            <a:avLst/>
          </a:prstGeom>
        </p:spPr>
      </p:pic>
    </p:spTree>
    <p:extLst>
      <p:ext uri="{BB962C8B-B14F-4D97-AF65-F5344CB8AC3E}">
        <p14:creationId xmlns:p14="http://schemas.microsoft.com/office/powerpoint/2010/main" val="27865145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1A9C6-8705-6957-807C-92D49FE4F56C}"/>
              </a:ext>
            </a:extLst>
          </p:cNvPr>
          <p:cNvSpPr>
            <a:spLocks noGrp="1"/>
          </p:cNvSpPr>
          <p:nvPr>
            <p:ph type="title"/>
          </p:nvPr>
        </p:nvSpPr>
        <p:spPr>
          <a:xfrm>
            <a:off x="1051143" y="289969"/>
            <a:ext cx="10515600" cy="1022241"/>
          </a:xfrm>
        </p:spPr>
        <p:txBody>
          <a:bodyPr>
            <a:normAutofit fontScale="90000"/>
          </a:bodyPr>
          <a:lstStyle/>
          <a:p>
            <a:r>
              <a:rPr lang="en-US" b="1" dirty="0"/>
              <a:t>Characteristics Of Software Maintenance</a:t>
            </a:r>
          </a:p>
        </p:txBody>
      </p:sp>
      <p:sp>
        <p:nvSpPr>
          <p:cNvPr id="3" name="Content Placeholder 2">
            <a:extLst>
              <a:ext uri="{FF2B5EF4-FFF2-40B4-BE49-F238E27FC236}">
                <a16:creationId xmlns:a16="http://schemas.microsoft.com/office/drawing/2014/main" id="{539E0560-9A0D-F1D8-327D-7FFBD9A0A2F4}"/>
              </a:ext>
            </a:extLst>
          </p:cNvPr>
          <p:cNvSpPr>
            <a:spLocks noGrp="1"/>
          </p:cNvSpPr>
          <p:nvPr>
            <p:ph idx="1"/>
          </p:nvPr>
        </p:nvSpPr>
        <p:spPr/>
        <p:txBody>
          <a:bodyPr/>
          <a:lstStyle/>
          <a:p>
            <a:r>
              <a:rPr lang="en-US" sz="2400" dirty="0"/>
              <a:t>Every software product continues to evolve after its development:</a:t>
            </a:r>
          </a:p>
          <a:p>
            <a:pPr marL="630238" lvl="1" indent="-284163">
              <a:spcBef>
                <a:spcPts val="1000"/>
              </a:spcBef>
            </a:pPr>
            <a:r>
              <a:rPr lang="en-US" dirty="0"/>
              <a:t>Through maintenance efforts.</a:t>
            </a:r>
          </a:p>
          <a:p>
            <a:r>
              <a:rPr lang="en-US" sz="2400" dirty="0"/>
              <a:t>Larger software products stay in operation for longer time:</a:t>
            </a:r>
          </a:p>
          <a:p>
            <a:pPr marL="630238" lvl="1" indent="-284163">
              <a:spcBef>
                <a:spcPts val="1000"/>
              </a:spcBef>
            </a:pPr>
            <a:r>
              <a:rPr lang="en-US" dirty="0"/>
              <a:t>Because of high replacement cost.</a:t>
            </a:r>
          </a:p>
          <a:p>
            <a:endParaRPr lang="en-US" dirty="0"/>
          </a:p>
        </p:txBody>
      </p:sp>
    </p:spTree>
    <p:extLst>
      <p:ext uri="{BB962C8B-B14F-4D97-AF65-F5344CB8AC3E}">
        <p14:creationId xmlns:p14="http://schemas.microsoft.com/office/powerpoint/2010/main" val="36707535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583C5-4230-03C7-E018-D619C4FEDB5D}"/>
              </a:ext>
            </a:extLst>
          </p:cNvPr>
          <p:cNvSpPr>
            <a:spLocks noGrp="1"/>
          </p:cNvSpPr>
          <p:nvPr>
            <p:ph type="title"/>
          </p:nvPr>
        </p:nvSpPr>
        <p:spPr>
          <a:xfrm>
            <a:off x="838200" y="219549"/>
            <a:ext cx="10515600" cy="883470"/>
          </a:xfrm>
        </p:spPr>
        <p:txBody>
          <a:bodyPr/>
          <a:lstStyle/>
          <a:p>
            <a:r>
              <a:rPr lang="en-US" dirty="0"/>
              <a:t>Types of Software Maintenance(Rajib Mall)</a:t>
            </a:r>
          </a:p>
        </p:txBody>
      </p:sp>
      <p:sp>
        <p:nvSpPr>
          <p:cNvPr id="3" name="Content Placeholder 2">
            <a:extLst>
              <a:ext uri="{FF2B5EF4-FFF2-40B4-BE49-F238E27FC236}">
                <a16:creationId xmlns:a16="http://schemas.microsoft.com/office/drawing/2014/main" id="{FEF026F5-60D3-79A3-D94B-95F80395E491}"/>
              </a:ext>
            </a:extLst>
          </p:cNvPr>
          <p:cNvSpPr>
            <a:spLocks noGrp="1"/>
          </p:cNvSpPr>
          <p:nvPr>
            <p:ph idx="1"/>
          </p:nvPr>
        </p:nvSpPr>
        <p:spPr>
          <a:xfrm>
            <a:off x="838200" y="1253331"/>
            <a:ext cx="10515600" cy="5052876"/>
          </a:xfrm>
        </p:spPr>
        <p:txBody>
          <a:bodyPr>
            <a:normAutofit/>
          </a:bodyPr>
          <a:lstStyle/>
          <a:p>
            <a:pPr algn="just"/>
            <a:r>
              <a:rPr lang="en-US" dirty="0"/>
              <a:t>There are three types of software maintenance, which are described as follows:</a:t>
            </a:r>
          </a:p>
          <a:p>
            <a:pPr algn="just"/>
            <a:r>
              <a:rPr lang="en-US" b="1" dirty="0"/>
              <a:t>Corrective</a:t>
            </a:r>
            <a:r>
              <a:rPr lang="en-US" dirty="0"/>
              <a:t>: Corrective maintenance of a software product is necessary to overcome the failures observed while the system is in use. </a:t>
            </a:r>
          </a:p>
          <a:p>
            <a:pPr algn="just"/>
            <a:r>
              <a:rPr lang="en-US" b="1" dirty="0"/>
              <a:t>Adaptive</a:t>
            </a:r>
            <a:r>
              <a:rPr lang="en-US" dirty="0"/>
              <a:t>: A software product might need maintenance when the customers need the product to run on new platforms, on new operating systems, or when they need the product to interface with new hardware or software. </a:t>
            </a:r>
            <a:r>
              <a:rPr lang="en-US" altLang="en-US" dirty="0"/>
              <a:t>For example,  an operating system becomes obsolete and the software product needs to run on a new operating system then the software product may need to ported to the new operating system.</a:t>
            </a:r>
          </a:p>
          <a:p>
            <a:pPr algn="just"/>
            <a:r>
              <a:rPr lang="en-US" b="1" dirty="0"/>
              <a:t>Perfective</a:t>
            </a:r>
            <a:r>
              <a:rPr lang="en-US" dirty="0"/>
              <a:t>: A software product needs maintenance to support any new features that the users may want it to support, to change different functionalities of the system according to customer demands, or to enhance the performance of the system.</a:t>
            </a:r>
          </a:p>
        </p:txBody>
      </p:sp>
    </p:spTree>
    <p:extLst>
      <p:ext uri="{BB962C8B-B14F-4D97-AF65-F5344CB8AC3E}">
        <p14:creationId xmlns:p14="http://schemas.microsoft.com/office/powerpoint/2010/main" val="158867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C80D9-4E72-6499-DDE1-4071ECF32099}"/>
              </a:ext>
            </a:extLst>
          </p:cNvPr>
          <p:cNvSpPr>
            <a:spLocks noGrp="1"/>
          </p:cNvSpPr>
          <p:nvPr>
            <p:ph type="title"/>
          </p:nvPr>
        </p:nvSpPr>
        <p:spPr>
          <a:xfrm>
            <a:off x="838200" y="365125"/>
            <a:ext cx="10515600" cy="817289"/>
          </a:xfrm>
        </p:spPr>
        <p:txBody>
          <a:bodyPr/>
          <a:lstStyle/>
          <a:p>
            <a:r>
              <a:rPr lang="en-US" dirty="0"/>
              <a:t>Types of Software Maintenance</a:t>
            </a:r>
          </a:p>
        </p:txBody>
      </p:sp>
      <p:sp>
        <p:nvSpPr>
          <p:cNvPr id="3" name="Content Placeholder 2">
            <a:extLst>
              <a:ext uri="{FF2B5EF4-FFF2-40B4-BE49-F238E27FC236}">
                <a16:creationId xmlns:a16="http://schemas.microsoft.com/office/drawing/2014/main" id="{97D639F8-0204-496D-565A-D7907DBE9A8C}"/>
              </a:ext>
            </a:extLst>
          </p:cNvPr>
          <p:cNvSpPr>
            <a:spLocks noGrp="1"/>
          </p:cNvSpPr>
          <p:nvPr>
            <p:ph idx="1"/>
          </p:nvPr>
        </p:nvSpPr>
        <p:spPr>
          <a:xfrm>
            <a:off x="838200" y="1182414"/>
            <a:ext cx="10515600" cy="5310461"/>
          </a:xfrm>
        </p:spPr>
        <p:txBody>
          <a:bodyPr>
            <a:normAutofit/>
          </a:bodyPr>
          <a:lstStyle/>
          <a:p>
            <a:pPr marL="0" indent="0" algn="just">
              <a:lnSpc>
                <a:spcPct val="80000"/>
              </a:lnSpc>
              <a:buFontTx/>
              <a:buNone/>
            </a:pPr>
            <a:r>
              <a:rPr lang="en-US" altLang="en-US" dirty="0"/>
              <a:t>Software maintenance can be done using </a:t>
            </a:r>
            <a:r>
              <a:rPr lang="en-US" altLang="en-US" b="1" dirty="0"/>
              <a:t>corrective, adaptive, preventive or perfective maintenance</a:t>
            </a:r>
            <a:r>
              <a:rPr lang="en-US" altLang="en-US" dirty="0"/>
              <a:t> methodologies..</a:t>
            </a:r>
          </a:p>
          <a:p>
            <a:pPr marL="0" indent="0" algn="just">
              <a:lnSpc>
                <a:spcPct val="80000"/>
              </a:lnSpc>
              <a:buNone/>
            </a:pPr>
            <a:r>
              <a:rPr lang="en-US" altLang="en-US" b="1" dirty="0"/>
              <a:t>Corrective maintenance </a:t>
            </a:r>
            <a:r>
              <a:rPr lang="en-US" altLang="en-US" dirty="0"/>
              <a:t>is done when users find software defects in the software product and they need to be fixed.</a:t>
            </a:r>
          </a:p>
          <a:p>
            <a:pPr marL="0" indent="0" algn="just">
              <a:lnSpc>
                <a:spcPct val="80000"/>
              </a:lnSpc>
              <a:buFontTx/>
              <a:buNone/>
            </a:pPr>
            <a:r>
              <a:rPr lang="en-US" altLang="en-US" b="1" dirty="0"/>
              <a:t>Adaptive maintenance </a:t>
            </a:r>
            <a:r>
              <a:rPr lang="en-US" altLang="en-US" dirty="0"/>
              <a:t>is used when a technology on which the software product depends becomes obsolete. For example, an operating system becomes obsolete and the software product needs to run on a new operating system then the software product may need to ported to the new operating system.</a:t>
            </a:r>
          </a:p>
          <a:p>
            <a:pPr marL="0" indent="0" algn="just">
              <a:lnSpc>
                <a:spcPct val="80000"/>
              </a:lnSpc>
              <a:buFontTx/>
              <a:buNone/>
            </a:pPr>
            <a:r>
              <a:rPr lang="en-US" altLang="en-US" b="1" dirty="0"/>
              <a:t>Preventive maintenance </a:t>
            </a:r>
            <a:r>
              <a:rPr lang="en-US" altLang="en-US" dirty="0"/>
              <a:t>is used to make the software product robust so that if something goes wrong during running of the software product, the software product should still be able to run without any problems. If a user provides a wrong input on a user interface and if the resulting error can be handled in the source code then instead of the software product shutting down or crashing, it will be able to handle this exception and still will be running. Preventive maintenance is incorporated during the software construction by writing source code which can handle exceptions when it is running.</a:t>
            </a:r>
          </a:p>
          <a:p>
            <a:pPr marL="0" indent="0" algn="just">
              <a:lnSpc>
                <a:spcPct val="80000"/>
              </a:lnSpc>
              <a:buNone/>
            </a:pPr>
            <a:r>
              <a:rPr lang="en-US" altLang="en-US" b="1" dirty="0"/>
              <a:t>Perfective maintenance </a:t>
            </a:r>
            <a:r>
              <a:rPr lang="en-US" altLang="en-US" dirty="0"/>
              <a:t>is done when users want a changed functionality in the software product.</a:t>
            </a:r>
          </a:p>
          <a:p>
            <a:pPr marL="0" indent="0" algn="just">
              <a:lnSpc>
                <a:spcPct val="80000"/>
              </a:lnSpc>
              <a:buFontTx/>
              <a:buNone/>
            </a:pPr>
            <a:endParaRPr lang="en-US" altLang="en-US" dirty="0"/>
          </a:p>
          <a:p>
            <a:endParaRPr lang="en-US" dirty="0"/>
          </a:p>
        </p:txBody>
      </p:sp>
    </p:spTree>
    <p:extLst>
      <p:ext uri="{BB962C8B-B14F-4D97-AF65-F5344CB8AC3E}">
        <p14:creationId xmlns:p14="http://schemas.microsoft.com/office/powerpoint/2010/main" val="29062188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C057A-3E2B-0E43-0AC0-8055BF0E00AC}"/>
              </a:ext>
            </a:extLst>
          </p:cNvPr>
          <p:cNvSpPr>
            <a:spLocks noGrp="1"/>
          </p:cNvSpPr>
          <p:nvPr>
            <p:ph type="title"/>
          </p:nvPr>
        </p:nvSpPr>
        <p:spPr>
          <a:xfrm>
            <a:off x="838200" y="317828"/>
            <a:ext cx="10515600" cy="618849"/>
          </a:xfrm>
        </p:spPr>
        <p:txBody>
          <a:bodyPr>
            <a:normAutofit fontScale="90000"/>
          </a:bodyPr>
          <a:lstStyle/>
          <a:p>
            <a:r>
              <a:rPr lang="en-US" b="1" dirty="0"/>
              <a:t>Types of Software Maintenance</a:t>
            </a:r>
          </a:p>
        </p:txBody>
      </p:sp>
      <p:sp>
        <p:nvSpPr>
          <p:cNvPr id="3" name="Content Placeholder 2">
            <a:extLst>
              <a:ext uri="{FF2B5EF4-FFF2-40B4-BE49-F238E27FC236}">
                <a16:creationId xmlns:a16="http://schemas.microsoft.com/office/drawing/2014/main" id="{1F9261F3-6255-EE4C-65A7-9E84E4A49626}"/>
              </a:ext>
            </a:extLst>
          </p:cNvPr>
          <p:cNvSpPr>
            <a:spLocks noGrp="1"/>
          </p:cNvSpPr>
          <p:nvPr>
            <p:ph idx="1"/>
          </p:nvPr>
        </p:nvSpPr>
        <p:spPr>
          <a:xfrm>
            <a:off x="664780" y="1135117"/>
            <a:ext cx="10515600" cy="4587765"/>
          </a:xfrm>
        </p:spPr>
        <p:txBody>
          <a:bodyPr>
            <a:normAutofit fontScale="92500"/>
          </a:bodyPr>
          <a:lstStyle/>
          <a:p>
            <a:pPr marL="0" indent="0">
              <a:buNone/>
            </a:pPr>
            <a:r>
              <a:rPr lang="en-US" sz="2400" b="1" dirty="0"/>
              <a:t>Corrective Maintenance</a:t>
            </a:r>
          </a:p>
          <a:p>
            <a:pPr algn="just"/>
            <a:r>
              <a:rPr lang="en-US" sz="2400" dirty="0"/>
              <a:t>This includes modifications done in order to fix problems.</a:t>
            </a:r>
          </a:p>
          <a:p>
            <a:pPr algn="just"/>
            <a:r>
              <a:rPr lang="en-US" sz="2400" dirty="0"/>
              <a:t>Corrective maintenance deals with the repair of defects found in day-to-day system functions</a:t>
            </a:r>
          </a:p>
          <a:p>
            <a:pPr marL="0" indent="0" algn="just">
              <a:buNone/>
            </a:pPr>
            <a:r>
              <a:rPr lang="en-US" sz="2400" b="1" dirty="0"/>
              <a:t>Adaptive Maintenance</a:t>
            </a:r>
          </a:p>
          <a:p>
            <a:pPr algn="just"/>
            <a:r>
              <a:rPr lang="en-US" sz="2400" dirty="0"/>
              <a:t>This includes modifications applied to keep the software product up-to-date.</a:t>
            </a:r>
          </a:p>
          <a:p>
            <a:pPr algn="just"/>
            <a:r>
              <a:rPr lang="en-US" sz="2400" dirty="0"/>
              <a:t>Adaptive maintenance is the implementation of changes in a part of the system, which has been affected by a change that occurred in some other part of the system.</a:t>
            </a:r>
          </a:p>
          <a:p>
            <a:pPr algn="just"/>
            <a:r>
              <a:rPr lang="en-US" sz="2400" dirty="0"/>
              <a:t>This refers to the process of modifying existing software to adapt to changes in its environment, technology, or user requirements.  This type of maintenance is essential to ensure that software remains relevant, functional, and valuable over time.</a:t>
            </a:r>
          </a:p>
        </p:txBody>
      </p:sp>
    </p:spTree>
    <p:extLst>
      <p:ext uri="{BB962C8B-B14F-4D97-AF65-F5344CB8AC3E}">
        <p14:creationId xmlns:p14="http://schemas.microsoft.com/office/powerpoint/2010/main" val="21801160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52644-5FF8-9D2F-6F09-F6A9F8841A9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2F7C257-840E-D447-8EB3-DEB84CA51272}"/>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453077DA-6A19-2CA4-33B1-5E4B04B0FA2B}"/>
              </a:ext>
            </a:extLst>
          </p:cNvPr>
          <p:cNvPicPr>
            <a:picLocks noChangeAspect="1"/>
          </p:cNvPicPr>
          <p:nvPr/>
        </p:nvPicPr>
        <p:blipFill>
          <a:blip r:embed="rId2"/>
          <a:stretch>
            <a:fillRect/>
          </a:stretch>
        </p:blipFill>
        <p:spPr>
          <a:xfrm>
            <a:off x="644064" y="111919"/>
            <a:ext cx="8909839" cy="3292475"/>
          </a:xfrm>
          <a:prstGeom prst="rect">
            <a:avLst/>
          </a:prstGeom>
        </p:spPr>
      </p:pic>
      <p:pic>
        <p:nvPicPr>
          <p:cNvPr id="7" name="Picture 6">
            <a:extLst>
              <a:ext uri="{FF2B5EF4-FFF2-40B4-BE49-F238E27FC236}">
                <a16:creationId xmlns:a16="http://schemas.microsoft.com/office/drawing/2014/main" id="{F27B7E62-E5AE-03ED-50C0-2CFE4129515A}"/>
              </a:ext>
            </a:extLst>
          </p:cNvPr>
          <p:cNvPicPr>
            <a:picLocks noChangeAspect="1"/>
          </p:cNvPicPr>
          <p:nvPr/>
        </p:nvPicPr>
        <p:blipFill>
          <a:blip r:embed="rId3"/>
          <a:stretch>
            <a:fillRect/>
          </a:stretch>
        </p:blipFill>
        <p:spPr>
          <a:xfrm>
            <a:off x="1261241" y="2755992"/>
            <a:ext cx="9096704" cy="3990089"/>
          </a:xfrm>
          <a:prstGeom prst="rect">
            <a:avLst/>
          </a:prstGeom>
        </p:spPr>
      </p:pic>
    </p:spTree>
    <p:extLst>
      <p:ext uri="{BB962C8B-B14F-4D97-AF65-F5344CB8AC3E}">
        <p14:creationId xmlns:p14="http://schemas.microsoft.com/office/powerpoint/2010/main" val="38979314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FD5C8-B161-8963-208D-C9225CB73EF8}"/>
              </a:ext>
            </a:extLst>
          </p:cNvPr>
          <p:cNvSpPr>
            <a:spLocks noGrp="1"/>
          </p:cNvSpPr>
          <p:nvPr>
            <p:ph type="title"/>
          </p:nvPr>
        </p:nvSpPr>
        <p:spPr/>
        <p:txBody>
          <a:bodyPr/>
          <a:lstStyle/>
          <a:p>
            <a:r>
              <a:rPr lang="en-US" b="1" dirty="0"/>
              <a:t>Examples of adaptive maintenance</a:t>
            </a:r>
            <a:r>
              <a:rPr lang="en-US" dirty="0"/>
              <a:t>:</a:t>
            </a:r>
          </a:p>
        </p:txBody>
      </p:sp>
      <p:sp>
        <p:nvSpPr>
          <p:cNvPr id="3" name="Content Placeholder 2">
            <a:extLst>
              <a:ext uri="{FF2B5EF4-FFF2-40B4-BE49-F238E27FC236}">
                <a16:creationId xmlns:a16="http://schemas.microsoft.com/office/drawing/2014/main" id="{4D8D1EA9-05A6-BCC9-D00F-7DF85A9F9EF3}"/>
              </a:ext>
            </a:extLst>
          </p:cNvPr>
          <p:cNvSpPr>
            <a:spLocks noGrp="1"/>
          </p:cNvSpPr>
          <p:nvPr>
            <p:ph idx="1"/>
          </p:nvPr>
        </p:nvSpPr>
        <p:spPr>
          <a:xfrm>
            <a:off x="838200" y="1628884"/>
            <a:ext cx="10515600" cy="2257644"/>
          </a:xfrm>
        </p:spPr>
        <p:txBody>
          <a:bodyPr>
            <a:normAutofit/>
          </a:bodyPr>
          <a:lstStyle/>
          <a:p>
            <a:pPr algn="just"/>
            <a:r>
              <a:rPr lang="en-US" sz="2400" dirty="0"/>
              <a:t>Upgrading to a new version of a programming language or framework.</a:t>
            </a:r>
          </a:p>
          <a:p>
            <a:pPr algn="just"/>
            <a:r>
              <a:rPr lang="en-US" sz="2400" dirty="0"/>
              <a:t>Integrating with new hardware or software components.</a:t>
            </a:r>
          </a:p>
          <a:p>
            <a:pPr algn="just"/>
            <a:r>
              <a:rPr lang="en-US" sz="2400" dirty="0"/>
              <a:t>Adding new features or functionality based on user feedback.</a:t>
            </a:r>
          </a:p>
          <a:p>
            <a:pPr algn="just"/>
            <a:r>
              <a:rPr lang="en-US" sz="2400" dirty="0"/>
              <a:t>Modifying the software to comply with data privacy regulation.</a:t>
            </a:r>
          </a:p>
        </p:txBody>
      </p:sp>
    </p:spTree>
    <p:extLst>
      <p:ext uri="{BB962C8B-B14F-4D97-AF65-F5344CB8AC3E}">
        <p14:creationId xmlns:p14="http://schemas.microsoft.com/office/powerpoint/2010/main" val="20801969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30E6C-F1AE-9A15-7731-2346A0020F3C}"/>
              </a:ext>
            </a:extLst>
          </p:cNvPr>
          <p:cNvSpPr>
            <a:spLocks noGrp="1"/>
          </p:cNvSpPr>
          <p:nvPr>
            <p:ph type="title"/>
          </p:nvPr>
        </p:nvSpPr>
        <p:spPr>
          <a:xfrm>
            <a:off x="838200" y="365126"/>
            <a:ext cx="10515600" cy="833054"/>
          </a:xfrm>
        </p:spPr>
        <p:txBody>
          <a:bodyPr/>
          <a:lstStyle/>
          <a:p>
            <a:r>
              <a:rPr lang="en-US" b="1" dirty="0"/>
              <a:t>Types of Software Maintenance</a:t>
            </a:r>
          </a:p>
        </p:txBody>
      </p:sp>
      <p:sp>
        <p:nvSpPr>
          <p:cNvPr id="3" name="Content Placeholder 2">
            <a:extLst>
              <a:ext uri="{FF2B5EF4-FFF2-40B4-BE49-F238E27FC236}">
                <a16:creationId xmlns:a16="http://schemas.microsoft.com/office/drawing/2014/main" id="{E0BE4717-C1E7-F00C-0A97-7E5A4168D159}"/>
              </a:ext>
            </a:extLst>
          </p:cNvPr>
          <p:cNvSpPr>
            <a:spLocks noGrp="1"/>
          </p:cNvSpPr>
          <p:nvPr>
            <p:ph idx="1"/>
          </p:nvPr>
        </p:nvSpPr>
        <p:spPr>
          <a:xfrm>
            <a:off x="838200" y="1321128"/>
            <a:ext cx="10515600" cy="4811658"/>
          </a:xfrm>
        </p:spPr>
        <p:txBody>
          <a:bodyPr>
            <a:normAutofit lnSpcReduction="10000"/>
          </a:bodyPr>
          <a:lstStyle/>
          <a:p>
            <a:pPr marL="0" indent="0">
              <a:buNone/>
            </a:pPr>
            <a:r>
              <a:rPr lang="en-US" sz="2400" b="1" dirty="0"/>
              <a:t>Perfective Maintenance</a:t>
            </a:r>
          </a:p>
          <a:p>
            <a:r>
              <a:rPr lang="en-US" sz="2400" dirty="0"/>
              <a:t>This includes modifications done in order to keep the software usable over long period of time</a:t>
            </a:r>
          </a:p>
          <a:p>
            <a:r>
              <a:rPr lang="en-US" sz="2400" dirty="0"/>
              <a:t>It includes new features, new user requirements for refining the software and improve its reliability and performance.</a:t>
            </a:r>
          </a:p>
          <a:p>
            <a:r>
              <a:rPr lang="en-US" sz="2400" dirty="0"/>
              <a:t>This includes changing the functionalities of as per the user’s changing needs.</a:t>
            </a:r>
          </a:p>
          <a:p>
            <a:pPr marL="0" indent="0">
              <a:buNone/>
            </a:pPr>
            <a:r>
              <a:rPr lang="en-US" sz="2400" b="1" dirty="0"/>
              <a:t>Preventive Maintenance</a:t>
            </a:r>
          </a:p>
          <a:p>
            <a:r>
              <a:rPr lang="en-US" sz="2400" dirty="0"/>
              <a:t>Modifications to prevent future problems of software</a:t>
            </a:r>
          </a:p>
          <a:p>
            <a:r>
              <a:rPr lang="en-US" sz="2400" dirty="0"/>
              <a:t>It aims to attend problems, which are not significant at this moment but may cause serious issues in future</a:t>
            </a:r>
          </a:p>
          <a:p>
            <a:r>
              <a:rPr lang="en-US" sz="2400" dirty="0"/>
              <a:t>It comprises documentation updating , code optimization and code restructuring</a:t>
            </a:r>
          </a:p>
        </p:txBody>
      </p:sp>
    </p:spTree>
    <p:extLst>
      <p:ext uri="{BB962C8B-B14F-4D97-AF65-F5344CB8AC3E}">
        <p14:creationId xmlns:p14="http://schemas.microsoft.com/office/powerpoint/2010/main" val="2149818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0EAFA-B803-5AA7-275A-E7676594FF17}"/>
              </a:ext>
            </a:extLst>
          </p:cNvPr>
          <p:cNvSpPr>
            <a:spLocks noGrp="1"/>
          </p:cNvSpPr>
          <p:nvPr>
            <p:ph type="title"/>
          </p:nvPr>
        </p:nvSpPr>
        <p:spPr>
          <a:xfrm>
            <a:off x="838200" y="365126"/>
            <a:ext cx="10515600" cy="469762"/>
          </a:xfrm>
        </p:spPr>
        <p:txBody>
          <a:bodyPr>
            <a:normAutofit fontScale="90000"/>
          </a:bodyPr>
          <a:lstStyle/>
          <a:p>
            <a:r>
              <a:rPr lang="en-US" b="1" dirty="0"/>
              <a:t>Types of Software Maintenance</a:t>
            </a:r>
            <a:endParaRPr lang="en-US" dirty="0"/>
          </a:p>
        </p:txBody>
      </p:sp>
      <p:sp>
        <p:nvSpPr>
          <p:cNvPr id="8" name="Content Placeholder 2">
            <a:extLst>
              <a:ext uri="{FF2B5EF4-FFF2-40B4-BE49-F238E27FC236}">
                <a16:creationId xmlns:a16="http://schemas.microsoft.com/office/drawing/2014/main" id="{F1BC0631-78DD-AA49-EE66-0289F0C7D9D2}"/>
              </a:ext>
            </a:extLst>
          </p:cNvPr>
          <p:cNvSpPr txBox="1">
            <a:spLocks/>
          </p:cNvSpPr>
          <p:nvPr/>
        </p:nvSpPr>
        <p:spPr>
          <a:xfrm>
            <a:off x="838200" y="1023171"/>
            <a:ext cx="10515600" cy="48116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dirty="0"/>
              <a:t>Preventive Maintenance</a:t>
            </a:r>
          </a:p>
          <a:p>
            <a:r>
              <a:rPr lang="en-US" sz="2400" dirty="0"/>
              <a:t>In this process of reengineering or reverse engineering is used to update old software product with old technology to new technology.</a:t>
            </a:r>
          </a:p>
          <a:p>
            <a:pPr marL="0" indent="0">
              <a:buNone/>
            </a:pPr>
            <a:r>
              <a:rPr lang="en-US" sz="2400" b="1" dirty="0"/>
              <a:t>Adaptive Maintenance</a:t>
            </a:r>
          </a:p>
          <a:p>
            <a:r>
              <a:rPr lang="en-US" sz="2400" dirty="0"/>
              <a:t>Ensure about adaptability (match Environment) of software after update or modify as per requirement.</a:t>
            </a:r>
          </a:p>
          <a:p>
            <a:pPr marL="0" indent="0">
              <a:buNone/>
            </a:pPr>
            <a:r>
              <a:rPr lang="en-US" sz="2400" b="1" dirty="0"/>
              <a:t>Corrective Maintenance</a:t>
            </a:r>
          </a:p>
          <a:p>
            <a:r>
              <a:rPr lang="en-US" sz="2400" dirty="0"/>
              <a:t>It relates to correct errors or faults/bug fixing</a:t>
            </a:r>
          </a:p>
          <a:p>
            <a:pPr marL="0" indent="0">
              <a:buNone/>
            </a:pPr>
            <a:r>
              <a:rPr lang="en-US" sz="2400" b="1" dirty="0"/>
              <a:t>Corrective Maintenance</a:t>
            </a:r>
          </a:p>
          <a:p>
            <a:r>
              <a:rPr lang="en-US" sz="2400" dirty="0"/>
              <a:t>Optimizing software (processing improvement) or performance or restricting the software to enhance changeability.</a:t>
            </a:r>
          </a:p>
        </p:txBody>
      </p:sp>
    </p:spTree>
    <p:extLst>
      <p:ext uri="{BB962C8B-B14F-4D97-AF65-F5344CB8AC3E}">
        <p14:creationId xmlns:p14="http://schemas.microsoft.com/office/powerpoint/2010/main" val="27109423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D0361-3376-BC61-23D6-BC223C6152E4}"/>
              </a:ext>
            </a:extLst>
          </p:cNvPr>
          <p:cNvSpPr>
            <a:spLocks noGrp="1"/>
          </p:cNvSpPr>
          <p:nvPr>
            <p:ph type="title"/>
          </p:nvPr>
        </p:nvSpPr>
        <p:spPr>
          <a:xfrm>
            <a:off x="838200" y="244007"/>
            <a:ext cx="10515600" cy="938407"/>
          </a:xfrm>
        </p:spPr>
        <p:txBody>
          <a:bodyPr>
            <a:normAutofit fontScale="90000"/>
          </a:bodyPr>
          <a:lstStyle/>
          <a:p>
            <a:r>
              <a:rPr lang="en-US" b="1" dirty="0"/>
              <a:t>13.1.1 Characteristics of Software Evolution</a:t>
            </a:r>
          </a:p>
        </p:txBody>
      </p:sp>
      <p:sp>
        <p:nvSpPr>
          <p:cNvPr id="3" name="Content Placeholder 2">
            <a:extLst>
              <a:ext uri="{FF2B5EF4-FFF2-40B4-BE49-F238E27FC236}">
                <a16:creationId xmlns:a16="http://schemas.microsoft.com/office/drawing/2014/main" id="{866213F5-A84F-1DE8-B46A-83E8A38F3078}"/>
              </a:ext>
            </a:extLst>
          </p:cNvPr>
          <p:cNvSpPr>
            <a:spLocks noGrp="1"/>
          </p:cNvSpPr>
          <p:nvPr>
            <p:ph idx="1"/>
          </p:nvPr>
        </p:nvSpPr>
        <p:spPr>
          <a:xfrm>
            <a:off x="838200" y="1182414"/>
            <a:ext cx="10515600" cy="5139558"/>
          </a:xfrm>
        </p:spPr>
        <p:txBody>
          <a:bodyPr>
            <a:normAutofit lnSpcReduction="10000"/>
          </a:bodyPr>
          <a:lstStyle/>
          <a:p>
            <a:pPr algn="just"/>
            <a:r>
              <a:rPr lang="en-US" sz="2400" dirty="0"/>
              <a:t>Lehman and </a:t>
            </a:r>
            <a:r>
              <a:rPr lang="en-US" sz="2400" dirty="0" err="1"/>
              <a:t>Belady</a:t>
            </a:r>
            <a:r>
              <a:rPr lang="en-US" sz="2400" dirty="0"/>
              <a:t> have studied the characteristics of evolution of several software products. They have expressed their observations in the form of laws. These are generalizations and may not be applicable to specific cases. </a:t>
            </a:r>
          </a:p>
          <a:p>
            <a:pPr marL="0" indent="0" algn="just">
              <a:buNone/>
            </a:pPr>
            <a:r>
              <a:rPr lang="en-US" sz="2400" b="1" dirty="0"/>
              <a:t>Lehman’s first law: </a:t>
            </a:r>
          </a:p>
          <a:p>
            <a:pPr marL="236538" indent="-236538" algn="just"/>
            <a:r>
              <a:rPr lang="en-US" sz="2400" dirty="0"/>
              <a:t>A software product must change continually or become progressively less useful. </a:t>
            </a:r>
          </a:p>
          <a:p>
            <a:pPr algn="just"/>
            <a:r>
              <a:rPr lang="en-US" sz="2400" dirty="0"/>
              <a:t>Every software product continues to evolve after its development through maintenance efforts. </a:t>
            </a:r>
          </a:p>
          <a:p>
            <a:pPr algn="just"/>
            <a:r>
              <a:rPr lang="en-US" sz="2400" dirty="0"/>
              <a:t>This law clearly shows that every product irrespective of how well designed must undergo maintenance.</a:t>
            </a:r>
          </a:p>
          <a:p>
            <a:pPr algn="just"/>
            <a:r>
              <a:rPr lang="en-US" sz="2400" dirty="0" err="1"/>
              <a:t>Infact</a:t>
            </a:r>
            <a:r>
              <a:rPr lang="en-US" sz="2400" dirty="0"/>
              <a:t>, when a product does not need any more maintenance, it is a sign that the product is about to be retired/discarded. </a:t>
            </a:r>
          </a:p>
          <a:p>
            <a:pPr algn="just"/>
            <a:r>
              <a:rPr lang="en-US" sz="2400" dirty="0"/>
              <a:t>Good products are maintained and bad products are thrown away.</a:t>
            </a:r>
          </a:p>
        </p:txBody>
      </p:sp>
    </p:spTree>
    <p:extLst>
      <p:ext uri="{BB962C8B-B14F-4D97-AF65-F5344CB8AC3E}">
        <p14:creationId xmlns:p14="http://schemas.microsoft.com/office/powerpoint/2010/main" val="552624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FC2ED-1C6D-0B1E-2F85-F350979122A8}"/>
              </a:ext>
            </a:extLst>
          </p:cNvPr>
          <p:cNvSpPr>
            <a:spLocks noGrp="1"/>
          </p:cNvSpPr>
          <p:nvPr>
            <p:ph type="title"/>
          </p:nvPr>
        </p:nvSpPr>
        <p:spPr>
          <a:xfrm>
            <a:off x="838200" y="248744"/>
            <a:ext cx="10515600" cy="864585"/>
          </a:xfrm>
        </p:spPr>
        <p:txBody>
          <a:bodyPr>
            <a:normAutofit fontScale="90000"/>
          </a:bodyPr>
          <a:lstStyle/>
          <a:p>
            <a:r>
              <a:rPr lang="en-US" b="1" dirty="0"/>
              <a:t>13.1.1 Characteristics of Software Evolution</a:t>
            </a:r>
            <a:endParaRPr lang="en-US" dirty="0"/>
          </a:p>
        </p:txBody>
      </p:sp>
      <p:sp>
        <p:nvSpPr>
          <p:cNvPr id="3" name="Content Placeholder 2">
            <a:extLst>
              <a:ext uri="{FF2B5EF4-FFF2-40B4-BE49-F238E27FC236}">
                <a16:creationId xmlns:a16="http://schemas.microsoft.com/office/drawing/2014/main" id="{239D6928-7A88-48DB-1163-740C5F6E0F29}"/>
              </a:ext>
            </a:extLst>
          </p:cNvPr>
          <p:cNvSpPr>
            <a:spLocks noGrp="1"/>
          </p:cNvSpPr>
          <p:nvPr>
            <p:ph idx="1"/>
          </p:nvPr>
        </p:nvSpPr>
        <p:spPr>
          <a:xfrm>
            <a:off x="838200" y="1253331"/>
            <a:ext cx="10515600" cy="5037110"/>
          </a:xfrm>
        </p:spPr>
        <p:txBody>
          <a:bodyPr>
            <a:normAutofit/>
          </a:bodyPr>
          <a:lstStyle/>
          <a:p>
            <a:pPr marL="0" indent="0">
              <a:buNone/>
            </a:pPr>
            <a:r>
              <a:rPr lang="en-US" b="1" dirty="0"/>
              <a:t>Lehman’s second law:</a:t>
            </a:r>
          </a:p>
          <a:p>
            <a:pPr algn="just"/>
            <a:r>
              <a:rPr lang="en-US" sz="2600" dirty="0"/>
              <a:t>The structure of a program tends to degrade as more and more maintenance is carried out on it. </a:t>
            </a:r>
          </a:p>
          <a:p>
            <a:pPr algn="just"/>
            <a:r>
              <a:rPr lang="en-US" sz="2600" dirty="0"/>
              <a:t>When you add a function during maintenance, you build on top of an existing program, often in a way that the existing program was not intended to support.</a:t>
            </a:r>
          </a:p>
          <a:p>
            <a:pPr algn="just"/>
            <a:r>
              <a:rPr lang="en-US" sz="2600" dirty="0"/>
              <a:t>If you do not redesign the system, the additions will be more complex than they should be. </a:t>
            </a:r>
          </a:p>
          <a:p>
            <a:pPr algn="just"/>
            <a:r>
              <a:rPr lang="en-US" sz="2600" dirty="0"/>
              <a:t>Due to quick-fix solutions, in addition to degradation of structure, the documentations become inconsistent and become less helpful as more and more maintenance is carried out.</a:t>
            </a:r>
          </a:p>
        </p:txBody>
      </p:sp>
    </p:spTree>
    <p:extLst>
      <p:ext uri="{BB962C8B-B14F-4D97-AF65-F5344CB8AC3E}">
        <p14:creationId xmlns:p14="http://schemas.microsoft.com/office/powerpoint/2010/main" val="29151597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7322F-872A-A307-C75C-EE9F79B9A69C}"/>
              </a:ext>
            </a:extLst>
          </p:cNvPr>
          <p:cNvSpPr>
            <a:spLocks noGrp="1"/>
          </p:cNvSpPr>
          <p:nvPr>
            <p:ph type="title"/>
          </p:nvPr>
        </p:nvSpPr>
        <p:spPr>
          <a:xfrm>
            <a:off x="838200" y="365125"/>
            <a:ext cx="10515600" cy="801523"/>
          </a:xfrm>
        </p:spPr>
        <p:txBody>
          <a:bodyPr>
            <a:normAutofit fontScale="90000"/>
          </a:bodyPr>
          <a:lstStyle/>
          <a:p>
            <a:r>
              <a:rPr lang="en-US" b="1" dirty="0"/>
              <a:t>13.1.1 Characteristics of Software Evolution</a:t>
            </a:r>
            <a:endParaRPr lang="en-US" dirty="0"/>
          </a:p>
        </p:txBody>
      </p:sp>
      <p:sp>
        <p:nvSpPr>
          <p:cNvPr id="3" name="Content Placeholder 2">
            <a:extLst>
              <a:ext uri="{FF2B5EF4-FFF2-40B4-BE49-F238E27FC236}">
                <a16:creationId xmlns:a16="http://schemas.microsoft.com/office/drawing/2014/main" id="{D3A6CB2A-3A0E-60DC-01B6-7C2BF5E61135}"/>
              </a:ext>
            </a:extLst>
          </p:cNvPr>
          <p:cNvSpPr>
            <a:spLocks noGrp="1"/>
          </p:cNvSpPr>
          <p:nvPr>
            <p:ph idx="1"/>
          </p:nvPr>
        </p:nvSpPr>
        <p:spPr>
          <a:xfrm>
            <a:off x="838200" y="1368425"/>
            <a:ext cx="10515600" cy="2951327"/>
          </a:xfrm>
        </p:spPr>
        <p:txBody>
          <a:bodyPr/>
          <a:lstStyle/>
          <a:p>
            <a:pPr marL="0" indent="0">
              <a:buNone/>
            </a:pPr>
            <a:r>
              <a:rPr lang="en-US" b="1" dirty="0"/>
              <a:t>Lehman’s third law:</a:t>
            </a:r>
          </a:p>
          <a:p>
            <a:pPr algn="just"/>
            <a:r>
              <a:rPr lang="en-US" sz="2400" dirty="0"/>
              <a:t>Over a program’s lifetime, its rate of development is approximately constant. </a:t>
            </a:r>
          </a:p>
          <a:p>
            <a:pPr algn="just"/>
            <a:r>
              <a:rPr lang="en-US" sz="2400" dirty="0"/>
              <a:t>The rate of development can be quantified in terms of the lines of code written or modified. </a:t>
            </a:r>
          </a:p>
          <a:p>
            <a:pPr algn="just"/>
            <a:r>
              <a:rPr lang="en-US" sz="2400" dirty="0"/>
              <a:t>Therefore, this law states that the rate at which code is written or modified is approximately the same during development and maintenance</a:t>
            </a:r>
          </a:p>
        </p:txBody>
      </p:sp>
    </p:spTree>
    <p:extLst>
      <p:ext uri="{BB962C8B-B14F-4D97-AF65-F5344CB8AC3E}">
        <p14:creationId xmlns:p14="http://schemas.microsoft.com/office/powerpoint/2010/main" val="42189798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B4E44-5816-8806-D471-D949D8F78ACD}"/>
              </a:ext>
            </a:extLst>
          </p:cNvPr>
          <p:cNvSpPr>
            <a:spLocks noGrp="1"/>
          </p:cNvSpPr>
          <p:nvPr>
            <p:ph type="title"/>
          </p:nvPr>
        </p:nvSpPr>
        <p:spPr>
          <a:xfrm>
            <a:off x="268014" y="191705"/>
            <a:ext cx="11698014" cy="722695"/>
          </a:xfrm>
        </p:spPr>
        <p:txBody>
          <a:bodyPr>
            <a:normAutofit fontScale="90000"/>
          </a:bodyPr>
          <a:lstStyle/>
          <a:p>
            <a:r>
              <a:rPr lang="en-US" sz="3600" b="1" dirty="0"/>
              <a:t>13.1.2 Special Problems Associated with Software Maintenance</a:t>
            </a:r>
          </a:p>
        </p:txBody>
      </p:sp>
      <p:sp>
        <p:nvSpPr>
          <p:cNvPr id="3" name="Content Placeholder 2">
            <a:extLst>
              <a:ext uri="{FF2B5EF4-FFF2-40B4-BE49-F238E27FC236}">
                <a16:creationId xmlns:a16="http://schemas.microsoft.com/office/drawing/2014/main" id="{687AC526-6B32-96E6-EF9A-04A742D47454}"/>
              </a:ext>
            </a:extLst>
          </p:cNvPr>
          <p:cNvSpPr>
            <a:spLocks noGrp="1"/>
          </p:cNvSpPr>
          <p:nvPr>
            <p:ph idx="1"/>
          </p:nvPr>
        </p:nvSpPr>
        <p:spPr>
          <a:xfrm>
            <a:off x="822434" y="914400"/>
            <a:ext cx="10859814" cy="5943600"/>
          </a:xfrm>
        </p:spPr>
        <p:txBody>
          <a:bodyPr>
            <a:noAutofit/>
          </a:bodyPr>
          <a:lstStyle/>
          <a:p>
            <a:pPr marL="0" indent="0">
              <a:buNone/>
            </a:pPr>
            <a:r>
              <a:rPr lang="en-US" sz="2400" dirty="0"/>
              <a:t>Software maintenance work currently is typically much more expensive than what it should be and takes more time than required. The reasons for this situation are the following:</a:t>
            </a:r>
          </a:p>
          <a:p>
            <a:pPr marL="0" indent="0">
              <a:buNone/>
            </a:pPr>
            <a:r>
              <a:rPr lang="en-US" sz="2400" dirty="0"/>
              <a:t>The reasons for this situation are the following: </a:t>
            </a:r>
          </a:p>
          <a:p>
            <a:pPr algn="just"/>
            <a:r>
              <a:rPr lang="en-US" sz="2400" dirty="0"/>
              <a:t>Software maintenance work in organizations is mostly carried out using ad hoc techniques. Still software maintenance is mostly being carried out as fire-fighting operations, rather than through systematic and planned activities.</a:t>
            </a:r>
          </a:p>
          <a:p>
            <a:pPr algn="just"/>
            <a:r>
              <a:rPr lang="en-US" sz="2400" dirty="0"/>
              <a:t>Software maintenance has a very poor image in industry. During maintenance it is necessary to thoroughly understand someone else’s work, and then carry out the required modifications and extensions. </a:t>
            </a:r>
          </a:p>
          <a:p>
            <a:pPr algn="just"/>
            <a:r>
              <a:rPr lang="en-US" sz="2400" dirty="0"/>
              <a:t>Another problem associated with maintenance work is that the majority of software products needing maintenance are legacy products. Though the word legacy implies “aged” software, but There is no agreement on what exactly is a legacy system. The typical problems associated with legacy systems are poor documentation, unstructured (spaghetti code with ugly control structure), and lack of personnel knowledgeable in the product.</a:t>
            </a:r>
          </a:p>
        </p:txBody>
      </p:sp>
    </p:spTree>
    <p:extLst>
      <p:ext uri="{BB962C8B-B14F-4D97-AF65-F5344CB8AC3E}">
        <p14:creationId xmlns:p14="http://schemas.microsoft.com/office/powerpoint/2010/main" val="33126166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CD7A3-6C5E-B0E9-50FA-A0F24364EE93}"/>
              </a:ext>
            </a:extLst>
          </p:cNvPr>
          <p:cNvSpPr>
            <a:spLocks noGrp="1"/>
          </p:cNvSpPr>
          <p:nvPr>
            <p:ph type="title"/>
          </p:nvPr>
        </p:nvSpPr>
        <p:spPr>
          <a:xfrm>
            <a:off x="838200" y="239002"/>
            <a:ext cx="10515600" cy="833054"/>
          </a:xfrm>
        </p:spPr>
        <p:txBody>
          <a:bodyPr/>
          <a:lstStyle/>
          <a:p>
            <a:r>
              <a:rPr lang="en-US" b="1" dirty="0"/>
              <a:t>13.2 Software Reverse Engineering</a:t>
            </a:r>
          </a:p>
        </p:txBody>
      </p:sp>
      <p:sp>
        <p:nvSpPr>
          <p:cNvPr id="3" name="Content Placeholder 2">
            <a:extLst>
              <a:ext uri="{FF2B5EF4-FFF2-40B4-BE49-F238E27FC236}">
                <a16:creationId xmlns:a16="http://schemas.microsoft.com/office/drawing/2014/main" id="{E0AC7821-2ED0-7517-01BA-09548C84B7C7}"/>
              </a:ext>
            </a:extLst>
          </p:cNvPr>
          <p:cNvSpPr>
            <a:spLocks noGrp="1"/>
          </p:cNvSpPr>
          <p:nvPr>
            <p:ph idx="1"/>
          </p:nvPr>
        </p:nvSpPr>
        <p:spPr>
          <a:xfrm>
            <a:off x="838200" y="1072056"/>
            <a:ext cx="10515600" cy="5546942"/>
          </a:xfrm>
        </p:spPr>
        <p:txBody>
          <a:bodyPr>
            <a:normAutofit lnSpcReduction="10000"/>
          </a:bodyPr>
          <a:lstStyle/>
          <a:p>
            <a:pPr algn="just"/>
            <a:r>
              <a:rPr lang="en-US" sz="2400" b="1" dirty="0">
                <a:solidFill>
                  <a:srgbClr val="00B0F0"/>
                </a:solidFill>
              </a:rPr>
              <a:t>Software reverse engineering </a:t>
            </a:r>
            <a:r>
              <a:rPr lang="en-US" sz="2400" dirty="0"/>
              <a:t>is the process of recovering the design and the requirements specification of a product from an analysis of its code. </a:t>
            </a:r>
          </a:p>
          <a:p>
            <a:pPr algn="just"/>
            <a:r>
              <a:rPr lang="en-US" sz="2400" b="1" dirty="0" err="1">
                <a:solidFill>
                  <a:srgbClr val="00B0F0"/>
                </a:solidFill>
              </a:rPr>
              <a:t>Eg</a:t>
            </a:r>
            <a:r>
              <a:rPr lang="en-US" sz="2400" dirty="0" err="1"/>
              <a:t>.</a:t>
            </a:r>
            <a:r>
              <a:rPr lang="en-US" sz="2400" dirty="0"/>
              <a:t> Imagine you have a toy but no manual.  You open it carefully, study its parts, and understand how it works.  This is reverse engineering.</a:t>
            </a:r>
          </a:p>
          <a:p>
            <a:pPr algn="just"/>
            <a:r>
              <a:rPr lang="en-US" sz="2400" dirty="0"/>
              <a:t>The purpose of reverse engineering is to facilitate maintenance work by improving the understandability of a system and to produce the necessary documents for a legacy system. </a:t>
            </a:r>
          </a:p>
          <a:p>
            <a:pPr algn="just"/>
            <a:r>
              <a:rPr lang="en-US" sz="2400" dirty="0"/>
              <a:t>Reverse engineering is becoming important, since legacy software products lack proper documentation, and are highly unstructured. </a:t>
            </a:r>
          </a:p>
          <a:p>
            <a:pPr algn="just"/>
            <a:r>
              <a:rPr lang="en-US" sz="2400" dirty="0"/>
              <a:t>Even well-designed products become legacy software as their structure degrades through a series of maintenance efforts. </a:t>
            </a:r>
          </a:p>
          <a:p>
            <a:pPr algn="just"/>
            <a:r>
              <a:rPr lang="en-US" sz="2400" dirty="0"/>
              <a:t>The first stage of reverse engineering usually focuses on carrying out cosmetic changes to the code to improve its readability, structure, and understandability, without changing any of its functionalities.</a:t>
            </a:r>
          </a:p>
        </p:txBody>
      </p:sp>
    </p:spTree>
    <p:extLst>
      <p:ext uri="{BB962C8B-B14F-4D97-AF65-F5344CB8AC3E}">
        <p14:creationId xmlns:p14="http://schemas.microsoft.com/office/powerpoint/2010/main" val="448125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2E9EFD9-B5D3-142B-9CF0-549B8100D18C}"/>
              </a:ext>
            </a:extLst>
          </p:cNvPr>
          <p:cNvPicPr>
            <a:picLocks noGrp="1" noChangeAspect="1"/>
          </p:cNvPicPr>
          <p:nvPr>
            <p:ph idx="1"/>
          </p:nvPr>
        </p:nvPicPr>
        <p:blipFill>
          <a:blip r:embed="rId3"/>
          <a:stretch>
            <a:fillRect/>
          </a:stretch>
        </p:blipFill>
        <p:spPr>
          <a:xfrm>
            <a:off x="325820" y="1139307"/>
            <a:ext cx="7418578" cy="3369837"/>
          </a:xfrm>
          <a:prstGeom prst="rect">
            <a:avLst/>
          </a:prstGeom>
        </p:spPr>
      </p:pic>
      <p:pic>
        <p:nvPicPr>
          <p:cNvPr id="7" name="Picture 6">
            <a:extLst>
              <a:ext uri="{FF2B5EF4-FFF2-40B4-BE49-F238E27FC236}">
                <a16:creationId xmlns:a16="http://schemas.microsoft.com/office/drawing/2014/main" id="{5D9174F0-CC2D-1F61-FDB0-C571A18F59CE}"/>
              </a:ext>
            </a:extLst>
          </p:cNvPr>
          <p:cNvPicPr>
            <a:picLocks noChangeAspect="1"/>
          </p:cNvPicPr>
          <p:nvPr/>
        </p:nvPicPr>
        <p:blipFill>
          <a:blip r:embed="rId4"/>
          <a:stretch>
            <a:fillRect/>
          </a:stretch>
        </p:blipFill>
        <p:spPr>
          <a:xfrm>
            <a:off x="7350325" y="823791"/>
            <a:ext cx="4515855" cy="3685353"/>
          </a:xfrm>
          <a:prstGeom prst="rect">
            <a:avLst/>
          </a:prstGeom>
        </p:spPr>
      </p:pic>
      <p:pic>
        <p:nvPicPr>
          <p:cNvPr id="8" name="Picture 7">
            <a:extLst>
              <a:ext uri="{FF2B5EF4-FFF2-40B4-BE49-F238E27FC236}">
                <a16:creationId xmlns:a16="http://schemas.microsoft.com/office/drawing/2014/main" id="{44FAA3F5-6B80-B5AC-B154-12C41DF520A5}"/>
              </a:ext>
            </a:extLst>
          </p:cNvPr>
          <p:cNvPicPr>
            <a:picLocks noChangeAspect="1"/>
          </p:cNvPicPr>
          <p:nvPr/>
        </p:nvPicPr>
        <p:blipFill>
          <a:blip r:embed="rId5"/>
          <a:stretch>
            <a:fillRect/>
          </a:stretch>
        </p:blipFill>
        <p:spPr>
          <a:xfrm>
            <a:off x="506293" y="4675938"/>
            <a:ext cx="9951659" cy="1661799"/>
          </a:xfrm>
          <a:prstGeom prst="rect">
            <a:avLst/>
          </a:prstGeom>
        </p:spPr>
      </p:pic>
    </p:spTree>
    <p:extLst>
      <p:ext uri="{BB962C8B-B14F-4D97-AF65-F5344CB8AC3E}">
        <p14:creationId xmlns:p14="http://schemas.microsoft.com/office/powerpoint/2010/main" val="7136753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DC508-1B53-D969-4D3A-DE40ECBA2F13}"/>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A952F2EA-2FB0-1D2D-BD3E-37C841A55DD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1131804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2F2FE-C4BF-DD64-4ABA-A75971575598}"/>
              </a:ext>
            </a:extLst>
          </p:cNvPr>
          <p:cNvSpPr>
            <a:spLocks noGrp="1"/>
          </p:cNvSpPr>
          <p:nvPr>
            <p:ph type="title"/>
          </p:nvPr>
        </p:nvSpPr>
        <p:spPr>
          <a:xfrm>
            <a:off x="838200" y="365125"/>
            <a:ext cx="10515600" cy="1006475"/>
          </a:xfrm>
        </p:spPr>
        <p:txBody>
          <a:bodyPr>
            <a:normAutofit fontScale="90000"/>
          </a:bodyPr>
          <a:lstStyle/>
          <a:p>
            <a:r>
              <a:rPr lang="en-US" b="1" dirty="0"/>
              <a:t>13.3 Software Maintenance Process Models</a:t>
            </a:r>
          </a:p>
        </p:txBody>
      </p:sp>
      <p:sp>
        <p:nvSpPr>
          <p:cNvPr id="3" name="Content Placeholder 2">
            <a:extLst>
              <a:ext uri="{FF2B5EF4-FFF2-40B4-BE49-F238E27FC236}">
                <a16:creationId xmlns:a16="http://schemas.microsoft.com/office/drawing/2014/main" id="{CB0337BF-F0EC-967B-5C23-7739E55E3492}"/>
              </a:ext>
            </a:extLst>
          </p:cNvPr>
          <p:cNvSpPr>
            <a:spLocks noGrp="1"/>
          </p:cNvSpPr>
          <p:nvPr>
            <p:ph idx="1"/>
          </p:nvPr>
        </p:nvSpPr>
        <p:spPr>
          <a:xfrm>
            <a:off x="838200" y="1541846"/>
            <a:ext cx="10515600" cy="4667250"/>
          </a:xfrm>
        </p:spPr>
        <p:txBody>
          <a:bodyPr>
            <a:normAutofit/>
          </a:bodyPr>
          <a:lstStyle/>
          <a:p>
            <a:pPr marL="0" indent="0" algn="just">
              <a:buNone/>
            </a:pPr>
            <a:r>
              <a:rPr lang="en-US" sz="2400" dirty="0"/>
              <a:t>The activities involved in a software maintenance project are not unique and depend on several factors such as: </a:t>
            </a:r>
          </a:p>
          <a:p>
            <a:pPr marL="0" indent="0" algn="just">
              <a:buNone/>
            </a:pPr>
            <a:r>
              <a:rPr lang="en-US" sz="2400" dirty="0"/>
              <a:t>(</a:t>
            </a:r>
            <a:r>
              <a:rPr lang="en-US" sz="2400" dirty="0" err="1"/>
              <a:t>i</a:t>
            </a:r>
            <a:r>
              <a:rPr lang="en-US" sz="2400" dirty="0"/>
              <a:t>)  the extent of modification to the product required, </a:t>
            </a:r>
          </a:p>
          <a:p>
            <a:pPr marL="0" indent="0" algn="just">
              <a:buNone/>
            </a:pPr>
            <a:r>
              <a:rPr lang="en-US" sz="2400" dirty="0"/>
              <a:t>(ii) the resources available to the maintenance team, </a:t>
            </a:r>
          </a:p>
          <a:p>
            <a:pPr marL="457200" indent="-457200" algn="just">
              <a:buNone/>
            </a:pPr>
            <a:r>
              <a:rPr lang="en-US" sz="2400" dirty="0"/>
              <a:t>(iii) the conditions of the existing product (e.g., how structured it is, how well documented it is, etc.), </a:t>
            </a:r>
          </a:p>
          <a:p>
            <a:pPr marL="520700" indent="-520700" algn="just">
              <a:buNone/>
            </a:pPr>
            <a:r>
              <a:rPr lang="en-US" sz="2400" dirty="0"/>
              <a:t>(iv) the expected project risks, etc. When the changes needed to a software product are minor and straightforward, the code can be directly modified and the changes appropriately reflected in all the documents.</a:t>
            </a:r>
          </a:p>
        </p:txBody>
      </p:sp>
    </p:spTree>
    <p:extLst>
      <p:ext uri="{BB962C8B-B14F-4D97-AF65-F5344CB8AC3E}">
        <p14:creationId xmlns:p14="http://schemas.microsoft.com/office/powerpoint/2010/main" val="4798134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8D819-CEFE-CAB8-9AB0-5182E4F2BF4E}"/>
              </a:ext>
            </a:extLst>
          </p:cNvPr>
          <p:cNvSpPr>
            <a:spLocks noGrp="1"/>
          </p:cNvSpPr>
          <p:nvPr>
            <p:ph type="title"/>
          </p:nvPr>
        </p:nvSpPr>
        <p:spPr>
          <a:xfrm>
            <a:off x="838200" y="365125"/>
            <a:ext cx="10515600" cy="990709"/>
          </a:xfrm>
        </p:spPr>
        <p:txBody>
          <a:bodyPr/>
          <a:lstStyle/>
          <a:p>
            <a:r>
              <a:rPr lang="en-US" b="1" dirty="0"/>
              <a:t>Maintenance Process Models</a:t>
            </a:r>
          </a:p>
        </p:txBody>
      </p:sp>
      <p:sp>
        <p:nvSpPr>
          <p:cNvPr id="3" name="Content Placeholder 2">
            <a:extLst>
              <a:ext uri="{FF2B5EF4-FFF2-40B4-BE49-F238E27FC236}">
                <a16:creationId xmlns:a16="http://schemas.microsoft.com/office/drawing/2014/main" id="{97FCAA6C-2290-0630-B024-7E3DA091A7A8}"/>
              </a:ext>
            </a:extLst>
          </p:cNvPr>
          <p:cNvSpPr>
            <a:spLocks noGrp="1"/>
          </p:cNvSpPr>
          <p:nvPr>
            <p:ph idx="1"/>
          </p:nvPr>
        </p:nvSpPr>
        <p:spPr>
          <a:xfrm>
            <a:off x="838200" y="1355834"/>
            <a:ext cx="10515600" cy="3250872"/>
          </a:xfrm>
        </p:spPr>
        <p:txBody>
          <a:bodyPr>
            <a:normAutofit fontScale="92500"/>
          </a:bodyPr>
          <a:lstStyle/>
          <a:p>
            <a:pPr marL="0" indent="0">
              <a:buNone/>
            </a:pPr>
            <a:r>
              <a:rPr lang="en-US" sz="2400" dirty="0"/>
              <a:t>Two broad categories of process models for software maintenance can be proposed.</a:t>
            </a:r>
          </a:p>
          <a:p>
            <a:pPr marL="630238" indent="-284163"/>
            <a:r>
              <a:rPr lang="en-US" sz="2400" dirty="0"/>
              <a:t>The first model preferred for projects involving </a:t>
            </a:r>
            <a:r>
              <a:rPr lang="en-US" sz="2400" b="1" dirty="0">
                <a:solidFill>
                  <a:srgbClr val="00B0F0"/>
                </a:solidFill>
              </a:rPr>
              <a:t>small reworks </a:t>
            </a:r>
            <a:r>
              <a:rPr lang="en-US" sz="2400" dirty="0"/>
              <a:t>where the code is changed directly and the changes are reflected in the relevant documents later.  This maintenance process is graphically presented </a:t>
            </a:r>
            <a:r>
              <a:rPr lang="en-US" sz="2400" b="1" dirty="0">
                <a:solidFill>
                  <a:srgbClr val="00B0F0"/>
                </a:solidFill>
              </a:rPr>
              <a:t>Process Model-1</a:t>
            </a:r>
            <a:r>
              <a:rPr lang="en-US" sz="2400" dirty="0"/>
              <a:t>.</a:t>
            </a:r>
          </a:p>
          <a:p>
            <a:pPr marL="630238" indent="-284163"/>
            <a:r>
              <a:rPr lang="en-US" sz="2400" dirty="0"/>
              <a:t>The second process model for software maintenance is preferred for projects where the amount of rework required is significant.  This maintenance process is graphically presented in </a:t>
            </a:r>
            <a:r>
              <a:rPr lang="en-US" sz="2400" b="1" dirty="0">
                <a:solidFill>
                  <a:srgbClr val="00B0F0"/>
                </a:solidFill>
              </a:rPr>
              <a:t>Process Model-1</a:t>
            </a:r>
          </a:p>
        </p:txBody>
      </p:sp>
    </p:spTree>
    <p:extLst>
      <p:ext uri="{BB962C8B-B14F-4D97-AF65-F5344CB8AC3E}">
        <p14:creationId xmlns:p14="http://schemas.microsoft.com/office/powerpoint/2010/main" val="34787861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CB559-343D-72B7-2340-A5AB3669CDF5}"/>
              </a:ext>
            </a:extLst>
          </p:cNvPr>
          <p:cNvSpPr>
            <a:spLocks noGrp="1"/>
          </p:cNvSpPr>
          <p:nvPr>
            <p:ph type="title"/>
          </p:nvPr>
        </p:nvSpPr>
        <p:spPr>
          <a:xfrm>
            <a:off x="838200" y="228243"/>
            <a:ext cx="10515600" cy="954172"/>
          </a:xfrm>
        </p:spPr>
        <p:txBody>
          <a:bodyPr/>
          <a:lstStyle/>
          <a:p>
            <a:r>
              <a:rPr lang="en-US" b="1" dirty="0"/>
              <a:t>Maintenance Process Model 1</a:t>
            </a:r>
          </a:p>
        </p:txBody>
      </p:sp>
      <p:sp>
        <p:nvSpPr>
          <p:cNvPr id="3" name="Content Placeholder 2">
            <a:extLst>
              <a:ext uri="{FF2B5EF4-FFF2-40B4-BE49-F238E27FC236}">
                <a16:creationId xmlns:a16="http://schemas.microsoft.com/office/drawing/2014/main" id="{BBE109B1-11E3-FF6E-B2D5-3A171820BB80}"/>
              </a:ext>
            </a:extLst>
          </p:cNvPr>
          <p:cNvSpPr>
            <a:spLocks noGrp="1"/>
          </p:cNvSpPr>
          <p:nvPr>
            <p:ph idx="1"/>
          </p:nvPr>
        </p:nvSpPr>
        <p:spPr>
          <a:xfrm>
            <a:off x="522889" y="1056291"/>
            <a:ext cx="6177456" cy="5407571"/>
          </a:xfrm>
        </p:spPr>
        <p:txBody>
          <a:bodyPr>
            <a:noAutofit/>
          </a:bodyPr>
          <a:lstStyle/>
          <a:p>
            <a:pPr algn="just"/>
            <a:r>
              <a:rPr lang="en-US" sz="2000" dirty="0"/>
              <a:t>In this approach, the project starts by gathering the requirements for changes. The requirements are next </a:t>
            </a:r>
            <a:r>
              <a:rPr lang="en-US" sz="2000" dirty="0" err="1"/>
              <a:t>analysed</a:t>
            </a:r>
            <a:r>
              <a:rPr lang="en-US" sz="2000" dirty="0"/>
              <a:t> to formulate the strategies to be adopted for code change. </a:t>
            </a:r>
          </a:p>
          <a:p>
            <a:pPr algn="just"/>
            <a:r>
              <a:rPr lang="en-US" sz="2000" dirty="0"/>
              <a:t>At this stage, the association of at least a few members of the original development team goes a long way in reducing the cycle time, especially for projects involving unstructured and inadequately documented code.</a:t>
            </a:r>
          </a:p>
          <a:p>
            <a:pPr algn="just"/>
            <a:r>
              <a:rPr lang="en-US" sz="2000" dirty="0"/>
              <a:t>The availability of a working old system to the maintenance engineers at the maintenance site greatly facilitates the task of the maintenance team as they get a good insight into the working of the old system and also can compare the working of their modified system with the old system. </a:t>
            </a:r>
          </a:p>
          <a:p>
            <a:pPr algn="just"/>
            <a:r>
              <a:rPr lang="en-US" sz="2000" dirty="0"/>
              <a:t>Also, debugging of the re-engineered system becomes easier as the program traces of both the systems can be compared to </a:t>
            </a:r>
            <a:r>
              <a:rPr lang="en-US" sz="2000" dirty="0" err="1"/>
              <a:t>localise</a:t>
            </a:r>
            <a:r>
              <a:rPr lang="en-US" sz="2000" dirty="0"/>
              <a:t> the bugs.</a:t>
            </a:r>
          </a:p>
        </p:txBody>
      </p:sp>
      <p:pic>
        <p:nvPicPr>
          <p:cNvPr id="5" name="Picture 4">
            <a:extLst>
              <a:ext uri="{FF2B5EF4-FFF2-40B4-BE49-F238E27FC236}">
                <a16:creationId xmlns:a16="http://schemas.microsoft.com/office/drawing/2014/main" id="{75338F9F-469E-9CB6-8530-2371B3946DC8}"/>
              </a:ext>
            </a:extLst>
          </p:cNvPr>
          <p:cNvPicPr>
            <a:picLocks noChangeAspect="1"/>
          </p:cNvPicPr>
          <p:nvPr/>
        </p:nvPicPr>
        <p:blipFill>
          <a:blip r:embed="rId2"/>
          <a:stretch>
            <a:fillRect/>
          </a:stretch>
        </p:blipFill>
        <p:spPr>
          <a:xfrm>
            <a:off x="6879715" y="1359775"/>
            <a:ext cx="5125916" cy="3968970"/>
          </a:xfrm>
          <a:prstGeom prst="rect">
            <a:avLst/>
          </a:prstGeom>
        </p:spPr>
      </p:pic>
      <p:pic>
        <p:nvPicPr>
          <p:cNvPr id="7" name="Picture 6">
            <a:extLst>
              <a:ext uri="{FF2B5EF4-FFF2-40B4-BE49-F238E27FC236}">
                <a16:creationId xmlns:a16="http://schemas.microsoft.com/office/drawing/2014/main" id="{6D1E8ED0-7972-AA42-34B3-907FFEAD3AB1}"/>
              </a:ext>
            </a:extLst>
          </p:cNvPr>
          <p:cNvPicPr>
            <a:picLocks noChangeAspect="1"/>
          </p:cNvPicPr>
          <p:nvPr/>
        </p:nvPicPr>
        <p:blipFill>
          <a:blip r:embed="rId3"/>
          <a:stretch>
            <a:fillRect/>
          </a:stretch>
        </p:blipFill>
        <p:spPr>
          <a:xfrm>
            <a:off x="7427854" y="5506105"/>
            <a:ext cx="4029637" cy="495369"/>
          </a:xfrm>
          <a:prstGeom prst="rect">
            <a:avLst/>
          </a:prstGeom>
        </p:spPr>
      </p:pic>
    </p:spTree>
    <p:extLst>
      <p:ext uri="{BB962C8B-B14F-4D97-AF65-F5344CB8AC3E}">
        <p14:creationId xmlns:p14="http://schemas.microsoft.com/office/powerpoint/2010/main" val="14628650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E924B-2894-828D-0FFA-ECE76A83003C}"/>
              </a:ext>
            </a:extLst>
          </p:cNvPr>
          <p:cNvSpPr>
            <a:spLocks noGrp="1"/>
          </p:cNvSpPr>
          <p:nvPr>
            <p:ph type="title"/>
          </p:nvPr>
        </p:nvSpPr>
        <p:spPr>
          <a:xfrm>
            <a:off x="838200" y="120764"/>
            <a:ext cx="10515600" cy="974944"/>
          </a:xfrm>
        </p:spPr>
        <p:txBody>
          <a:bodyPr/>
          <a:lstStyle/>
          <a:p>
            <a:r>
              <a:rPr lang="en-US" b="1" dirty="0"/>
              <a:t>Maintenance Process Model 1</a:t>
            </a:r>
            <a:endParaRPr lang="en-US" dirty="0"/>
          </a:p>
        </p:txBody>
      </p:sp>
      <p:sp>
        <p:nvSpPr>
          <p:cNvPr id="3" name="Content Placeholder 2">
            <a:extLst>
              <a:ext uri="{FF2B5EF4-FFF2-40B4-BE49-F238E27FC236}">
                <a16:creationId xmlns:a16="http://schemas.microsoft.com/office/drawing/2014/main" id="{3E583E99-631F-4405-C8E6-6357B2511A20}"/>
              </a:ext>
            </a:extLst>
          </p:cNvPr>
          <p:cNvSpPr>
            <a:spLocks noGrp="1"/>
          </p:cNvSpPr>
          <p:nvPr>
            <p:ph idx="1"/>
          </p:nvPr>
        </p:nvSpPr>
        <p:spPr>
          <a:xfrm>
            <a:off x="176048" y="1095708"/>
            <a:ext cx="6256283" cy="5431216"/>
          </a:xfrm>
        </p:spPr>
        <p:txBody>
          <a:bodyPr>
            <a:normAutofit/>
          </a:bodyPr>
          <a:lstStyle/>
          <a:p>
            <a:pPr algn="just"/>
            <a:r>
              <a:rPr lang="en-US" dirty="0"/>
              <a:t>The second model is preferred for projects where the amount of rework required is significant. </a:t>
            </a:r>
          </a:p>
          <a:p>
            <a:pPr algn="just"/>
            <a:r>
              <a:rPr lang="en-US" dirty="0"/>
              <a:t>This approach can be represented by a reverse engineering cycle followed by a forward engineering cycle. Such an approach is also known as software re-engineering.</a:t>
            </a:r>
          </a:p>
          <a:p>
            <a:pPr algn="just"/>
            <a:r>
              <a:rPr lang="en-US" dirty="0"/>
              <a:t>During the reverse engineering, the old code is </a:t>
            </a:r>
            <a:r>
              <a:rPr lang="en-US" dirty="0" err="1"/>
              <a:t>analysed</a:t>
            </a:r>
            <a:r>
              <a:rPr lang="en-US" dirty="0"/>
              <a:t>(abstracted) to extract the module specifications. The module specifications are then </a:t>
            </a:r>
            <a:r>
              <a:rPr lang="en-US" dirty="0" err="1"/>
              <a:t>analysed</a:t>
            </a:r>
            <a:r>
              <a:rPr lang="en-US" dirty="0"/>
              <a:t> to produce the design. The design is </a:t>
            </a:r>
            <a:r>
              <a:rPr lang="en-US" dirty="0" err="1"/>
              <a:t>analysed</a:t>
            </a:r>
            <a:r>
              <a:rPr lang="en-US" dirty="0"/>
              <a:t> (abstracted) to produce the original requirements specification. The change requests are then applied to this requirements specification to arrive at the new requirements specification. At this point a forward engineering is carried out to produce the new code.</a:t>
            </a:r>
          </a:p>
          <a:p>
            <a:pPr algn="just"/>
            <a:r>
              <a:rPr lang="en-US" dirty="0"/>
              <a:t>At the design, module specification, and coding a substantial reuse is made from the reverse engineered products.</a:t>
            </a:r>
          </a:p>
        </p:txBody>
      </p:sp>
      <p:pic>
        <p:nvPicPr>
          <p:cNvPr id="5" name="Picture 4">
            <a:extLst>
              <a:ext uri="{FF2B5EF4-FFF2-40B4-BE49-F238E27FC236}">
                <a16:creationId xmlns:a16="http://schemas.microsoft.com/office/drawing/2014/main" id="{4FF1ECAB-4EA2-18FB-5934-7C4E4B252BCE}"/>
              </a:ext>
            </a:extLst>
          </p:cNvPr>
          <p:cNvPicPr>
            <a:picLocks noChangeAspect="1"/>
          </p:cNvPicPr>
          <p:nvPr/>
        </p:nvPicPr>
        <p:blipFill>
          <a:blip r:embed="rId2"/>
          <a:stretch>
            <a:fillRect/>
          </a:stretch>
        </p:blipFill>
        <p:spPr>
          <a:xfrm>
            <a:off x="6442847" y="1095708"/>
            <a:ext cx="5573105" cy="3980789"/>
          </a:xfrm>
          <a:prstGeom prst="rect">
            <a:avLst/>
          </a:prstGeom>
        </p:spPr>
      </p:pic>
    </p:spTree>
    <p:extLst>
      <p:ext uri="{BB962C8B-B14F-4D97-AF65-F5344CB8AC3E}">
        <p14:creationId xmlns:p14="http://schemas.microsoft.com/office/powerpoint/2010/main" val="24214461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11A8D-DE0E-E34E-2666-89F3F25FE2D5}"/>
              </a:ext>
            </a:extLst>
          </p:cNvPr>
          <p:cNvSpPr>
            <a:spLocks noGrp="1"/>
          </p:cNvSpPr>
          <p:nvPr>
            <p:ph type="title"/>
          </p:nvPr>
        </p:nvSpPr>
        <p:spPr>
          <a:xfrm>
            <a:off x="838200" y="365125"/>
            <a:ext cx="10515600" cy="927647"/>
          </a:xfrm>
        </p:spPr>
        <p:txBody>
          <a:bodyPr/>
          <a:lstStyle/>
          <a:p>
            <a:r>
              <a:rPr lang="en-US" dirty="0"/>
              <a:t>13.4 Estimation of Maintenance Cost</a:t>
            </a:r>
          </a:p>
        </p:txBody>
      </p:sp>
      <p:sp>
        <p:nvSpPr>
          <p:cNvPr id="3" name="Content Placeholder 2">
            <a:extLst>
              <a:ext uri="{FF2B5EF4-FFF2-40B4-BE49-F238E27FC236}">
                <a16:creationId xmlns:a16="http://schemas.microsoft.com/office/drawing/2014/main" id="{5F604147-7408-AC76-2DA1-88F6504536EF}"/>
              </a:ext>
            </a:extLst>
          </p:cNvPr>
          <p:cNvSpPr>
            <a:spLocks noGrp="1"/>
          </p:cNvSpPr>
          <p:nvPr>
            <p:ph idx="1"/>
          </p:nvPr>
        </p:nvSpPr>
        <p:spPr>
          <a:xfrm>
            <a:off x="838200" y="1683735"/>
            <a:ext cx="10515600" cy="2541423"/>
          </a:xfrm>
        </p:spPr>
        <p:txBody>
          <a:bodyPr>
            <a:normAutofit/>
          </a:bodyPr>
          <a:lstStyle/>
          <a:p>
            <a:pPr algn="just"/>
            <a:r>
              <a:rPr lang="en-US" sz="2400" dirty="0"/>
              <a:t>It is well known that maintenance efforts require about 60 per cent of the total life cycle cost for a typical software product. However, maintenance costs vary widely from one application domain to another.</a:t>
            </a:r>
          </a:p>
          <a:p>
            <a:pPr algn="just"/>
            <a:r>
              <a:rPr lang="en-US" sz="2400" dirty="0"/>
              <a:t>Boehm [1981] proposed a formula for estimating maintenance costs as part of his COCOMO cost estimation model. Boehm’s maintenance cost estimation is made in terms of a quantity called the annual change traffic (ACT).</a:t>
            </a:r>
          </a:p>
        </p:txBody>
      </p:sp>
    </p:spTree>
    <p:extLst>
      <p:ext uri="{BB962C8B-B14F-4D97-AF65-F5344CB8AC3E}">
        <p14:creationId xmlns:p14="http://schemas.microsoft.com/office/powerpoint/2010/main" val="25448491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0824D-6E7F-5127-699B-62C5C490CCF1}"/>
              </a:ext>
            </a:extLst>
          </p:cNvPr>
          <p:cNvSpPr>
            <a:spLocks noGrp="1"/>
          </p:cNvSpPr>
          <p:nvPr>
            <p:ph type="title"/>
          </p:nvPr>
        </p:nvSpPr>
        <p:spPr>
          <a:xfrm>
            <a:off x="838200" y="365125"/>
            <a:ext cx="10515600" cy="817289"/>
          </a:xfrm>
        </p:spPr>
        <p:txBody>
          <a:bodyPr>
            <a:normAutofit fontScale="90000"/>
          </a:bodyPr>
          <a:lstStyle/>
          <a:p>
            <a:r>
              <a:rPr lang="en-US" b="1" dirty="0"/>
              <a:t>Estimation of Approximate Maintenance Cost</a:t>
            </a:r>
          </a:p>
        </p:txBody>
      </p:sp>
      <p:sp>
        <p:nvSpPr>
          <p:cNvPr id="3" name="Content Placeholder 2">
            <a:extLst>
              <a:ext uri="{FF2B5EF4-FFF2-40B4-BE49-F238E27FC236}">
                <a16:creationId xmlns:a16="http://schemas.microsoft.com/office/drawing/2014/main" id="{A2B35354-2849-97F3-2572-2DCC8CDEDAE7}"/>
              </a:ext>
            </a:extLst>
          </p:cNvPr>
          <p:cNvSpPr>
            <a:spLocks noGrp="1"/>
          </p:cNvSpPr>
          <p:nvPr>
            <p:ph idx="1"/>
          </p:nvPr>
        </p:nvSpPr>
        <p:spPr>
          <a:xfrm>
            <a:off x="838200" y="1253331"/>
            <a:ext cx="10515600" cy="4351338"/>
          </a:xfrm>
        </p:spPr>
        <p:txBody>
          <a:bodyPr>
            <a:normAutofit/>
          </a:bodyPr>
          <a:lstStyle/>
          <a:p>
            <a:pPr algn="just"/>
            <a:r>
              <a:rPr lang="en-US" sz="2400" dirty="0"/>
              <a:t>Boehm’s maintenance cost estimation is made in terms of a quantity called the </a:t>
            </a:r>
            <a:r>
              <a:rPr lang="en-US" sz="2400" b="1" dirty="0">
                <a:solidFill>
                  <a:srgbClr val="00B0F0"/>
                </a:solidFill>
              </a:rPr>
              <a:t>Annual Change Traffic (ACT). </a:t>
            </a:r>
            <a:r>
              <a:rPr lang="en-US" sz="2400" dirty="0"/>
              <a:t>Boehm defined ACT as the fraction of a software product’s source instructions which undergo change during a typical year either through addition or deletion.</a:t>
            </a:r>
          </a:p>
          <a:p>
            <a:pPr algn="just"/>
            <a:endParaRPr lang="en-US" sz="2400" dirty="0"/>
          </a:p>
        </p:txBody>
      </p:sp>
      <p:pic>
        <p:nvPicPr>
          <p:cNvPr id="5" name="Picture 4">
            <a:extLst>
              <a:ext uri="{FF2B5EF4-FFF2-40B4-BE49-F238E27FC236}">
                <a16:creationId xmlns:a16="http://schemas.microsoft.com/office/drawing/2014/main" id="{84F00AAC-DE6F-C90A-D9D3-B1C4D56B0D1B}"/>
              </a:ext>
            </a:extLst>
          </p:cNvPr>
          <p:cNvPicPr>
            <a:picLocks noChangeAspect="1"/>
          </p:cNvPicPr>
          <p:nvPr/>
        </p:nvPicPr>
        <p:blipFill>
          <a:blip r:embed="rId2"/>
          <a:stretch>
            <a:fillRect/>
          </a:stretch>
        </p:blipFill>
        <p:spPr>
          <a:xfrm>
            <a:off x="4557498" y="2867609"/>
            <a:ext cx="2836530" cy="857471"/>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8E09751-5574-4C41-86ED-506F6E25D995}"/>
                  </a:ext>
                </a:extLst>
              </p:cNvPr>
              <p:cNvSpPr txBox="1"/>
              <p:nvPr/>
            </p:nvSpPr>
            <p:spPr>
              <a:xfrm>
                <a:off x="838200" y="3964208"/>
                <a:ext cx="10515600" cy="2308324"/>
              </a:xfrm>
              <a:prstGeom prst="rect">
                <a:avLst/>
              </a:prstGeom>
              <a:noFill/>
            </p:spPr>
            <p:txBody>
              <a:bodyPr wrap="square">
                <a:spAutoFit/>
              </a:bodyPr>
              <a:lstStyle/>
              <a:p>
                <a:r>
                  <a:rPr lang="en-US" sz="2400" dirty="0"/>
                  <a:t>where, </a:t>
                </a:r>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𝐾𝐿𝑂𝐶</m:t>
                        </m:r>
                      </m:e>
                      <m:sub>
                        <m:r>
                          <a:rPr lang="en-US" sz="2400" i="1">
                            <a:latin typeface="Cambria Math" panose="02040503050406030204" pitchFamily="18" charset="0"/>
                          </a:rPr>
                          <m:t>𝑎𝑑𝑑𝑒𝑑</m:t>
                        </m:r>
                      </m:sub>
                    </m:sSub>
                  </m:oMath>
                </a14:m>
                <a:r>
                  <a:rPr lang="en-US" sz="2400" dirty="0"/>
                  <a:t> is the total kilo lines of source code added during maintenance. </a:t>
                </a:r>
              </a:p>
              <a:p>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𝐾𝐿𝑂𝐶</m:t>
                        </m:r>
                      </m:e>
                      <m:sub>
                        <m:r>
                          <a:rPr lang="en-US" sz="2400" i="1">
                            <a:latin typeface="Cambria Math" panose="02040503050406030204" pitchFamily="18" charset="0"/>
                          </a:rPr>
                          <m:t>𝑑𝑒𝑙𝑒𝑡𝑒𝑑</m:t>
                        </m:r>
                      </m:sub>
                    </m:sSub>
                  </m:oMath>
                </a14:m>
                <a:r>
                  <a:rPr lang="en-US" sz="2400" dirty="0"/>
                  <a:t> is the total kilo lines of source code deleted during maintenance. </a:t>
                </a:r>
              </a:p>
              <a:p>
                <a14:m>
                  <m:oMath xmlns:m="http://schemas.openxmlformats.org/officeDocument/2006/math">
                    <m:sSub>
                      <m:sSubPr>
                        <m:ctrlPr>
                          <a:rPr lang="en-US" sz="2400" i="1">
                            <a:latin typeface="Cambria Math" panose="02040503050406030204" pitchFamily="18" charset="0"/>
                          </a:rPr>
                        </m:ctrlPr>
                      </m:sSubPr>
                      <m:e>
                        <m:r>
                          <a:rPr lang="en-US" sz="2400" i="1">
                            <a:latin typeface="Cambria Math" panose="02040503050406030204" pitchFamily="18" charset="0"/>
                          </a:rPr>
                          <m:t>𝐾𝐿𝑂𝐶</m:t>
                        </m:r>
                      </m:e>
                      <m:sub>
                        <m:r>
                          <a:rPr lang="en-US" sz="2400" i="1">
                            <a:latin typeface="Cambria Math" panose="02040503050406030204" pitchFamily="18" charset="0"/>
                          </a:rPr>
                          <m:t>𝑡𝑜𝑡𝑎𝑙</m:t>
                        </m:r>
                      </m:sub>
                    </m:sSub>
                  </m:oMath>
                </a14:m>
                <a:r>
                  <a:rPr lang="en-US" sz="2400" dirty="0"/>
                  <a:t>  is the </a:t>
                </a:r>
                <a:r>
                  <a:rPr lang="en-US" sz="2400" b="1" dirty="0"/>
                  <a:t>Total Kilo Lines Of Code </a:t>
                </a:r>
                <a:r>
                  <a:rPr lang="en-US" sz="2400" dirty="0"/>
                  <a:t>in the </a:t>
                </a:r>
                <a:r>
                  <a:rPr lang="en-US" sz="2400" b="1" dirty="0"/>
                  <a:t>entire software system</a:t>
                </a:r>
                <a:r>
                  <a:rPr lang="en-US" sz="2400" dirty="0"/>
                  <a:t>.</a:t>
                </a:r>
              </a:p>
              <a:p>
                <a:r>
                  <a:rPr lang="en-US" sz="2400" dirty="0"/>
                  <a:t>Thus, the code that is changed, should be counted in both the code added and code deleted.</a:t>
                </a:r>
              </a:p>
              <a:p>
                <a:pPr algn="ctr"/>
                <a:r>
                  <a:rPr lang="en-US" sz="2400" b="1" i="1" dirty="0"/>
                  <a:t>Maintenance cost = ACT × Development cost</a:t>
                </a:r>
              </a:p>
            </p:txBody>
          </p:sp>
        </mc:Choice>
        <mc:Fallback xmlns="">
          <p:sp>
            <p:nvSpPr>
              <p:cNvPr id="7" name="TextBox 6">
                <a:extLst>
                  <a:ext uri="{FF2B5EF4-FFF2-40B4-BE49-F238E27FC236}">
                    <a16:creationId xmlns:a16="http://schemas.microsoft.com/office/drawing/2014/main" id="{88E09751-5574-4C41-86ED-506F6E25D995}"/>
                  </a:ext>
                </a:extLst>
              </p:cNvPr>
              <p:cNvSpPr txBox="1">
                <a:spLocks noRot="1" noChangeAspect="1" noMove="1" noResize="1" noEditPoints="1" noAdjustHandles="1" noChangeArrowheads="1" noChangeShapeType="1" noTextEdit="1"/>
              </p:cNvSpPr>
              <p:nvPr/>
            </p:nvSpPr>
            <p:spPr>
              <a:xfrm>
                <a:off x="838200" y="3964208"/>
                <a:ext cx="10515600" cy="2308324"/>
              </a:xfrm>
              <a:prstGeom prst="rect">
                <a:avLst/>
              </a:prstGeom>
              <a:blipFill>
                <a:blip r:embed="rId3"/>
                <a:stretch>
                  <a:fillRect l="-928" t="-2111" r="-232" b="-5013"/>
                </a:stretch>
              </a:blipFill>
            </p:spPr>
            <p:txBody>
              <a:bodyPr/>
              <a:lstStyle/>
              <a:p>
                <a:r>
                  <a:rPr lang="en-US">
                    <a:noFill/>
                  </a:rPr>
                  <a:t> </a:t>
                </a:r>
              </a:p>
            </p:txBody>
          </p:sp>
        </mc:Fallback>
      </mc:AlternateContent>
    </p:spTree>
    <p:extLst>
      <p:ext uri="{BB962C8B-B14F-4D97-AF65-F5344CB8AC3E}">
        <p14:creationId xmlns:p14="http://schemas.microsoft.com/office/powerpoint/2010/main" val="20749463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E3F3B-D5AD-FD0E-1CEE-F862F0495891}"/>
              </a:ext>
            </a:extLst>
          </p:cNvPr>
          <p:cNvSpPr>
            <a:spLocks noGrp="1"/>
          </p:cNvSpPr>
          <p:nvPr>
            <p:ph type="title"/>
          </p:nvPr>
        </p:nvSpPr>
        <p:spPr/>
        <p:txBody>
          <a:bodyPr/>
          <a:lstStyle/>
          <a:p>
            <a:r>
              <a:rPr lang="en-US" b="1" dirty="0"/>
              <a:t>Exercise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760C3BB-21AF-C609-FDB3-4C8C5C0841B4}"/>
                  </a:ext>
                </a:extLst>
              </p:cNvPr>
              <p:cNvSpPr>
                <a:spLocks noGrp="1"/>
              </p:cNvSpPr>
              <p:nvPr>
                <p:ph idx="1"/>
              </p:nvPr>
            </p:nvSpPr>
            <p:spPr>
              <a:xfrm>
                <a:off x="838200" y="1415722"/>
                <a:ext cx="10515600" cy="4351338"/>
              </a:xfrm>
            </p:spPr>
            <p:txBody>
              <a:bodyPr/>
              <a:lstStyle/>
              <a:p>
                <a:r>
                  <a:rPr lang="en-US" dirty="0"/>
                  <a:t>Find the maintenance cost of a software product where there are a total of 55000 lines of coding.  During maintenance 80000 lines of coding was added and 3500 lines of coding was deleted.  Development cost of the project was 5 lakhs BDT.</a:t>
                </a:r>
              </a:p>
              <a:p>
                <a:endParaRPr lang="en-US" dirty="0"/>
              </a:p>
              <a:p>
                <a:endParaRPr lang="en-US" dirty="0"/>
              </a:p>
              <a:p>
                <a:pPr marL="0" indent="0">
                  <a:buNone/>
                </a:pPr>
                <a:endParaRPr lang="en-US" dirty="0"/>
              </a:p>
              <a:p>
                <a:pPr marL="228600" marR="0">
                  <a:lnSpc>
                    <a:spcPct val="115000"/>
                  </a:lnSpc>
                  <a:spcAft>
                    <a:spcPts val="800"/>
                  </a:spcAft>
                  <a:buNone/>
                </a:pPr>
                <a14:m>
                  <m:oMath xmlns:m="http://schemas.openxmlformats.org/officeDocument/2006/math">
                    <m:r>
                      <a:rPr lang="en-US" sz="2400" i="1" kern="100" smtClean="0">
                        <a:effectLst/>
                        <a:latin typeface="Cambria Math" panose="02040503050406030204" pitchFamily="18" charset="0"/>
                        <a:ea typeface="PMingLiU" panose="02020500000000000000" pitchFamily="18" charset="-120"/>
                        <a:cs typeface="Times New Roman" panose="02020603050405020304" pitchFamily="18" charset="0"/>
                      </a:rPr>
                      <m:t>𝐴𝐶𝑇</m:t>
                    </m:r>
                    <m:r>
                      <a:rPr lang="en-US" sz="2400" i="1" kern="100" smtClean="0">
                        <a:effectLst/>
                        <a:latin typeface="Cambria Math" panose="02040503050406030204" pitchFamily="18" charset="0"/>
                        <a:ea typeface="PMingLiU" panose="02020500000000000000" pitchFamily="18" charset="-120"/>
                        <a:cs typeface="Times New Roman" panose="02020603050405020304" pitchFamily="18" charset="0"/>
                      </a:rPr>
                      <m:t>=</m:t>
                    </m:r>
                    <m:f>
                      <m:fPr>
                        <m:ctrlPr>
                          <a:rPr lang="en-US" sz="2400" i="1" kern="100">
                            <a:effectLst/>
                            <a:latin typeface="Cambria Math" panose="02040503050406030204" pitchFamily="18" charset="0"/>
                            <a:ea typeface="PMingLiU" panose="02020500000000000000" pitchFamily="18" charset="-120"/>
                            <a:cs typeface="Times New Roman" panose="02020603050405020304" pitchFamily="18" charset="0"/>
                          </a:rPr>
                        </m:ctrlPr>
                      </m:fPr>
                      <m:num>
                        <m:r>
                          <a:rPr lang="en-US" sz="2400" i="1" kern="100">
                            <a:effectLst/>
                            <a:latin typeface="Cambria Math" panose="02040503050406030204" pitchFamily="18" charset="0"/>
                            <a:ea typeface="PMingLiU" panose="02020500000000000000" pitchFamily="18" charset="-120"/>
                            <a:cs typeface="Times New Roman" panose="02020603050405020304" pitchFamily="18" charset="0"/>
                          </a:rPr>
                          <m:t>80+3.5</m:t>
                        </m:r>
                      </m:num>
                      <m:den>
                        <m:r>
                          <a:rPr lang="en-US" sz="2400" i="1" kern="100">
                            <a:effectLst/>
                            <a:latin typeface="Cambria Math" panose="02040503050406030204" pitchFamily="18" charset="0"/>
                            <a:ea typeface="PMingLiU" panose="02020500000000000000" pitchFamily="18" charset="-120"/>
                            <a:cs typeface="Times New Roman" panose="02020603050405020304" pitchFamily="18" charset="0"/>
                          </a:rPr>
                          <m:t>55</m:t>
                        </m:r>
                      </m:den>
                    </m:f>
                  </m:oMath>
                </a14:m>
                <a:r>
                  <a:rPr lang="en-US" sz="2400" kern="100" dirty="0">
                    <a:effectLst/>
                    <a:latin typeface="Calibri" panose="020F0502020204030204" pitchFamily="34" charset="0"/>
                    <a:ea typeface="PMingLiU" panose="02020500000000000000" pitchFamily="18" charset="-120"/>
                    <a:cs typeface="Times New Roman" panose="02020603050405020304" pitchFamily="18" charset="0"/>
                  </a:rPr>
                  <a:t> =</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B760C3BB-21AF-C609-FDB3-4C8C5C0841B4}"/>
                  </a:ext>
                </a:extLst>
              </p:cNvPr>
              <p:cNvSpPr>
                <a:spLocks noGrp="1" noRot="1" noChangeAspect="1" noMove="1" noResize="1" noEditPoints="1" noAdjustHandles="1" noChangeArrowheads="1" noChangeShapeType="1" noTextEdit="1"/>
              </p:cNvSpPr>
              <p:nvPr>
                <p:ph idx="1"/>
              </p:nvPr>
            </p:nvSpPr>
            <p:spPr>
              <a:xfrm>
                <a:off x="838200" y="1415722"/>
                <a:ext cx="10515600" cy="4351338"/>
              </a:xfrm>
              <a:blipFill>
                <a:blip r:embed="rId2"/>
                <a:stretch>
                  <a:fillRect l="-1043" t="-2241"/>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DBD08814-0CB8-EE09-A000-42982FC1EA54}"/>
              </a:ext>
            </a:extLst>
          </p:cNvPr>
          <p:cNvPicPr>
            <a:picLocks noChangeAspect="1"/>
          </p:cNvPicPr>
          <p:nvPr/>
        </p:nvPicPr>
        <p:blipFill>
          <a:blip r:embed="rId3"/>
          <a:stretch>
            <a:fillRect/>
          </a:stretch>
        </p:blipFill>
        <p:spPr>
          <a:xfrm>
            <a:off x="4547558" y="3429000"/>
            <a:ext cx="2836530" cy="857471"/>
          </a:xfrm>
          <a:prstGeom prst="rect">
            <a:avLst/>
          </a:prstGeom>
        </p:spPr>
      </p:pic>
    </p:spTree>
    <p:extLst>
      <p:ext uri="{BB962C8B-B14F-4D97-AF65-F5344CB8AC3E}">
        <p14:creationId xmlns:p14="http://schemas.microsoft.com/office/powerpoint/2010/main" val="22132102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D7544-1176-1165-7409-6A4D77D6CE5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5A688AF-A399-8478-4B5B-D2412B47B262}"/>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7920231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B86D7-0FD3-F831-0CA3-2B99D0AA534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CDE03FF-C33F-EF1E-3732-4E9C148006A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643086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EC061-716B-573D-B52A-9F8E0965EA6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EDF7AB9-05E8-F6AD-AF5A-33242EDF81C0}"/>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3447830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0DC61-2369-7C7F-2334-E39E88335B5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E045B8C-6204-3848-C465-D40E104D6B9A}"/>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075196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0DB90-0603-0BAA-F970-068D16E8F71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695E2C0-EAC7-4EA6-1D26-68465516908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340771301"/>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TM10001115[[fn=Parcel]]</Template>
  <TotalTime>4217</TotalTime>
  <Words>2776</Words>
  <Application>Microsoft Office PowerPoint</Application>
  <PresentationFormat>Widescreen</PresentationFormat>
  <Paragraphs>194</Paragraphs>
  <Slides>50</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Arial</vt:lpstr>
      <vt:lpstr>Calibri</vt:lpstr>
      <vt:lpstr>Cambria Math</vt:lpstr>
      <vt:lpstr>Gill Sans MT</vt:lpstr>
      <vt:lpstr>Parcel</vt:lpstr>
      <vt:lpstr>PowerPoint Presentation</vt:lpstr>
      <vt:lpstr>PowerPoint Presentation</vt:lpstr>
      <vt:lpstr>PowerPoint Presentation</vt:lpstr>
      <vt:lpstr>Introduction</vt:lpstr>
      <vt:lpstr>Introduction</vt:lpstr>
      <vt:lpstr>What is software maintenance?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Introduction</vt:lpstr>
      <vt:lpstr>Introduction</vt:lpstr>
      <vt:lpstr>What is software maintenance?</vt:lpstr>
      <vt:lpstr>Need for maintenance</vt:lpstr>
      <vt:lpstr>Aim of software maintenance</vt:lpstr>
      <vt:lpstr>PowerPoint Presentation</vt:lpstr>
      <vt:lpstr>Characteristics Of Software Maintenance</vt:lpstr>
      <vt:lpstr>Types of Software Maintenance(Rajib Mall)</vt:lpstr>
      <vt:lpstr>Types of Software Maintenance</vt:lpstr>
      <vt:lpstr>Types of Software Maintenance</vt:lpstr>
      <vt:lpstr>PowerPoint Presentation</vt:lpstr>
      <vt:lpstr>Examples of adaptive maintenance:</vt:lpstr>
      <vt:lpstr>Types of Software Maintenance</vt:lpstr>
      <vt:lpstr>Types of Software Maintenance</vt:lpstr>
      <vt:lpstr>13.1.1 Characteristics of Software Evolution</vt:lpstr>
      <vt:lpstr>13.1.1 Characteristics of Software Evolution</vt:lpstr>
      <vt:lpstr>13.1.1 Characteristics of Software Evolution</vt:lpstr>
      <vt:lpstr>13.1.2 Special Problems Associated with Software Maintenance</vt:lpstr>
      <vt:lpstr>13.2 Software Reverse Engineering</vt:lpstr>
      <vt:lpstr>PowerPoint Presentation</vt:lpstr>
      <vt:lpstr>PowerPoint Presentation</vt:lpstr>
      <vt:lpstr>13.3 Software Maintenance Process Models</vt:lpstr>
      <vt:lpstr>Maintenance Process Models</vt:lpstr>
      <vt:lpstr>Maintenance Process Model 1</vt:lpstr>
      <vt:lpstr>Maintenance Process Model 1</vt:lpstr>
      <vt:lpstr>13.4 Estimation of Maintenance Cost</vt:lpstr>
      <vt:lpstr>Estimation of Approximate Maintenance Cost</vt:lpstr>
      <vt:lpstr>Exercise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HP</dc:creator>
  <cp:lastModifiedBy>HP</cp:lastModifiedBy>
  <cp:revision>60</cp:revision>
  <dcterms:created xsi:type="dcterms:W3CDTF">2026-05-29T07:19:32Z</dcterms:created>
  <dcterms:modified xsi:type="dcterms:W3CDTF">2026-06-08T08:27:36Z</dcterms:modified>
</cp:coreProperties>
</file>