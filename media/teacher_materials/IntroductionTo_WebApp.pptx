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5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66" r:id="rId14"/>
    <p:sldId id="267" r:id="rId15"/>
    <p:sldId id="273" r:id="rId16"/>
    <p:sldId id="268" r:id="rId17"/>
    <p:sldId id="274" r:id="rId18"/>
    <p:sldId id="269" r:id="rId19"/>
    <p:sldId id="271" r:id="rId20"/>
    <p:sldId id="277" r:id="rId21"/>
    <p:sldId id="280" r:id="rId22"/>
    <p:sldId id="279" r:id="rId23"/>
    <p:sldId id="276" r:id="rId24"/>
  </p:sldIdLst>
  <p:sldSz cx="9144000" cy="6858000" type="screen4x3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80" autoAdjust="0"/>
  </p:normalViewPr>
  <p:slideViewPr>
    <p:cSldViewPr showGuides="1">
      <p:cViewPr>
        <p:scale>
          <a:sx n="79" d="100"/>
          <a:sy n="79" d="100"/>
        </p:scale>
        <p:origin x="-894" y="4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3EEF1-FAAC-46FB-8D3A-F3B15A86C398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29C01-A9B4-405B-BC73-613B80EF29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14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URI: mysql://localhost@databasename:password</a:t>
            </a:r>
          </a:p>
          <a:p>
            <a:r>
              <a:rPr lang="en-US"/>
              <a:t>URL: mysql://localhost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Nmap = network mapper (network discovery and security auditing)</a:t>
            </a:r>
          </a:p>
          <a:p>
            <a:r>
              <a:rPr lang="en-US" dirty="0"/>
              <a:t>Host Identification: Nmap can discover live hosts on a network through techniques like ping scanning.</a:t>
            </a:r>
          </a:p>
          <a:p>
            <a:r>
              <a:rPr lang="en-US" dirty="0"/>
              <a:t>Port Scanning: It identifies open ports on a target server, which is crucial for understanding the services running on that server.</a:t>
            </a:r>
          </a:p>
          <a:p>
            <a:r>
              <a:rPr lang="en-US" dirty="0"/>
              <a:t>CVE = Common Vulnerabilities and Exposures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Addressable Memory 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endParaRPr lang="en-US" dirty="0"/>
          </a:p>
          <a:p>
            <a:r>
              <a:rPr lang="en-US" dirty="0"/>
              <a:t>scan open port = netstat -ab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Intrusion Detection Systems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(IDS) analyze network traffic for signatures that match known cyberattacks. Intrusion Prevention Systems (IPS)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Evasion = don’t face (against)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Circumvent = prevent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XXE=that allows an attacker to interfere with an application's processing of XML data.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interact with any back-end or external systems that the application itself can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E29C01-A9B4-405B-BC73-613B80EF2908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6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11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4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4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0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8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3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9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5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0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95317-94C2-463B-BC96-0CA358C8D2F5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2EE7B-9061-40FB-B493-9C0661C04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IS 404\pto\imag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2" y="36094"/>
            <a:ext cx="9131968" cy="341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 txBox="1">
            <a:spLocks/>
          </p:cNvSpPr>
          <p:nvPr/>
        </p:nvSpPr>
        <p:spPr>
          <a:xfrm>
            <a:off x="304800" y="3810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solidFill>
                  <a:schemeClr val="tx2"/>
                </a:solidFill>
                <a:latin typeface="Showcard Gothic" panose="04020904020102020604" pitchFamily="82" charset="0"/>
                <a:cs typeface="Times New Roman" panose="02020603050405020304" pitchFamily="18" charset="0"/>
              </a:rPr>
              <a:t>Lecture - 1</a:t>
            </a:r>
            <a:endParaRPr lang="en-US" dirty="0">
              <a:solidFill>
                <a:schemeClr val="tx2"/>
              </a:solidFill>
              <a:latin typeface="Showcard Gothic" panose="04020904020102020604" pitchFamily="82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Showcard Gothic" panose="04020904020102020604" pitchFamily="82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Introduction to Web Applications</a:t>
            </a:r>
          </a:p>
          <a:p>
            <a:r>
              <a:rPr lang="en-US" dirty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Advantages of Web Applications</a:t>
            </a:r>
          </a:p>
          <a:p>
            <a:r>
              <a:rPr lang="en-US" dirty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How Web Application Work</a:t>
            </a:r>
          </a:p>
          <a:p>
            <a:r>
              <a:rPr lang="en-US" dirty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Web Application Architecture</a:t>
            </a:r>
          </a:p>
          <a:p>
            <a:r>
              <a:rPr lang="en-US" dirty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Vulnerability Stack</a:t>
            </a:r>
          </a:p>
          <a:p>
            <a:r>
              <a:rPr lang="en-US" dirty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What is OWASP</a:t>
            </a:r>
          </a:p>
          <a:p>
            <a:r>
              <a:rPr lang="en-US" dirty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Top 10 Vulnerabilities in </a:t>
            </a:r>
            <a:r>
              <a:rPr lang="en-US" dirty="0" smtClean="0">
                <a:solidFill>
                  <a:schemeClr val="tx2"/>
                </a:solidFill>
                <a:latin typeface="Agency FB" panose="020B0503020202020204" pitchFamily="34" charset="0"/>
                <a:cs typeface="Segoe UI Semibold" panose="020B0702040204020203" pitchFamily="34" charset="0"/>
              </a:rPr>
              <a:t>2020</a:t>
            </a:r>
            <a:endParaRPr lang="en-US" dirty="0">
              <a:solidFill>
                <a:schemeClr val="tx2"/>
              </a:solidFill>
              <a:latin typeface="Agency FB" panose="020B050302020202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050" name="Picture 2" descr="D:\IS 404\pto\imag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0515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28600"/>
            <a:ext cx="6400800" cy="1189038"/>
          </a:xfrm>
        </p:spPr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Introduction to Web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programs that run on web browsers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the interface between users and web servers through web pages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user request, submit and retrieve data to/from a database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input data via keyboard, mouse or touch interface, depending on the device they are using to access web application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browser-supported programming languages such as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with other programming languages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to access data from databases</a:t>
            </a:r>
          </a:p>
        </p:txBody>
      </p:sp>
      <p:pic>
        <p:nvPicPr>
          <p:cNvPr id="1026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6910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8686799" cy="4038599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web pages dynamic, allow users to communicate with servers using server side scripts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the user to perform specific tasks such as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emails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with friends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and tracing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develop various web applications to offer their services to users via internet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access to such services,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them by submitting the uniform resource identifier (URI) or uniform resource locator (URL) of web application in a browser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passes their request to sever, which stores web application data and displays it in browser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6910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590800" y="134018"/>
            <a:ext cx="6400800" cy="1189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Introduction to Web Applications (CONT’D)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popular web servers are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IIS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Software Foundation’s Apache HTTP server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AOL/Netscape’s Enterprise Server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 One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internet and online business usage has accelerated the development and ubiquity of web application across globe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factor in adoption of web applications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multitude of features they offer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develop, offer better services than many computer-based software applications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install and maintain, secure, and easy to update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6910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590800" y="134018"/>
            <a:ext cx="6400800" cy="11890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Introduction to Web Applications (CONT’D)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426" y="157037"/>
            <a:ext cx="7772400" cy="11430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Advantages of Web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01190"/>
            <a:ext cx="8382000" cy="4169694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independent makes development and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easy as well as cost-effective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anytime, anywhere, using computer with internet connection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is customizable, making it easy to update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access them on any device having an internet browser,</a:t>
            </a:r>
          </a:p>
          <a:p>
            <a:pPr lvl="1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PDAs, smart phones,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servers, monitored and managed by experienced server administrators,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all web application data allowing the developers to increase the workload capacity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locations of servers </a:t>
            </a:r>
          </a:p>
          <a:p>
            <a:pPr lvl="1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only helps in increasing physical security, but it also lessens the burden of monitoring thousands of desktops using program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6910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408333" cy="406876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flexible core technologies such as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JSP, Servlets, Active Server Pages, SQL Server and .NET scripting languages, which are scalable and support even portable platforms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 enforce certain security policy, they are vulnerable to various attacks such as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Hijacking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 such as 2.0 more attack surface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28799" y="157037"/>
            <a:ext cx="7339263" cy="11430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Advantages of Web </a:t>
            </a:r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Applications(cont’d)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6910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7037"/>
            <a:ext cx="7391400" cy="114300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How Web Application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7074"/>
            <a:ext cx="7408333" cy="345069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user-requested data from  a database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clicks or enters a URL in a browser, web application immediately displays the requested website content in a browser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Step-by-step process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Website name or URL in browser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user’s request is send to the web server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receiving the request, web server check the file extension</a:t>
            </a:r>
          </a:p>
          <a:p>
            <a:pPr lvl="1" algn="just"/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user requests a simple web page with HTM or HTML extension, </a:t>
            </a:r>
            <a:r>
              <a:rPr lang="en-US" sz="1800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web server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processes the request and sends the file to the user’s browser</a:t>
            </a:r>
          </a:p>
          <a:p>
            <a:pPr lvl="1" algn="just"/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user requests a web page with extensions that need to be proceed at server side such as (</a:t>
            </a:r>
            <a:r>
              <a:rPr lang="en-US" sz="18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php,asp,cfm,etc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.,), then </a:t>
            </a:r>
            <a:r>
              <a:rPr lang="en-US" sz="1800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server 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must process the request.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passes the user’s request to the web application server, which processes the user’s request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927" y="157037"/>
            <a:ext cx="6657473" cy="1143000"/>
          </a:xfrm>
          <a:noFill/>
        </p:spPr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Web 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can be assessed on web browser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group of 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server-side scripts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(ASP, PHP, etc.) and </a:t>
            </a:r>
          </a:p>
          <a:p>
            <a:pPr lvl="1" algn="just"/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Client-side scripts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(HTML, JavaScript, etc.) to execute the application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devices,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browsers, and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web services that work with different scripting languages to execute the web application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Comprises of Three Layers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or presentation layer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57037"/>
            <a:ext cx="7543800" cy="1143000"/>
          </a:xfrm>
          <a:noFill/>
        </p:spPr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Client or Presentation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physical devices present on the client side such as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laptops,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phones and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devices feature OS and compatible browsers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send requests for required web applications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a website by entering URL in the browser,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travels to the web server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responds to the request and fetches the requested data;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displays this response in the browser in the form of web page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789" y="157037"/>
            <a:ext cx="8229600" cy="1143000"/>
          </a:xfrm>
          <a:noFill/>
        </p:spPr>
        <p:txBody>
          <a:bodyPr>
            <a:norm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Business Logic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7065"/>
            <a:ext cx="8534400" cy="4788535"/>
          </a:xfrm>
        </p:spPr>
        <p:txBody>
          <a:bodyPr>
            <a:normAutofit fontScale="57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Comprised two layers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Web-server logic layer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Web-server logic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various components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firewall,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HTTP request parser,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proxy caching server,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authentication and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handler and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handler and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hardware component-like server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firewall that offers security to the content, 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request parser to handle requests coming from clients  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responses to them, as well as resource handler capable of handling multiple requests simultaneously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all coding that reads data from the browser and returns the results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IIS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WebServer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28800" y="274638"/>
            <a:ext cx="6858000" cy="1143000"/>
          </a:xfrm>
          <a:noFill/>
        </p:spPr>
        <p:txBody>
          <a:bodyPr>
            <a:normAutofit fontScale="90000"/>
          </a:bodyPr>
          <a:lstStyle/>
          <a:p>
            <a:r>
              <a:rPr lang="en-US" dirty="0">
                <a:latin typeface="Stencil" panose="040409050D0802020404" pitchFamily="82" charset="0"/>
                <a:cs typeface="Times New Roman" panose="02020603050405020304" pitchFamily="18" charset="0"/>
              </a:rPr>
              <a:t>Business Logic </a:t>
            </a:r>
            <a:r>
              <a:rPr lang="en-US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Layer (Cont’d)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79765" cy="4054475"/>
          </a:xfrm>
        </p:spPr>
        <p:txBody>
          <a:bodyPr>
            <a:normAutofit fontScale="65000" lnSpcReduction="20000"/>
          </a:bodyPr>
          <a:lstStyle/>
          <a:p>
            <a:pPr algn="just"/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the functional logic of the web application which is implemented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.NET, Java and </a:t>
            </a:r>
          </a:p>
          <a:p>
            <a:pPr lvl="1"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“middleware” technologies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how the data flows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which developer builds the application using programming languages </a:t>
            </a:r>
          </a:p>
          <a:p>
            <a:pPr algn="just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application data and integrates legacy applications with the latest functionality of the application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needs a specific protocol to access user-requested data from its database;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software and defines the steps to search and fetch the data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8074"/>
            <a:ext cx="8229600" cy="1143000"/>
          </a:xfrm>
          <a:noFill/>
        </p:spPr>
        <p:txBody>
          <a:bodyPr>
            <a:norm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Database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38862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Comprised of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services,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B2B layer that holds all the commercial transactions, and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server that supplies an organization’s production data in structured form (e.g., MS SQL server, MySQL server)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68580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Vulnerability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69106"/>
            <a:ext cx="8534400" cy="4114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make use of vulnerabilities of one or more elements among the seven levels to exploit them and gain unrestricted access to an application or to the entire network.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7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vulnerabilities in business logic,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these vulnerabilities by performing input validation attacks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XSS</a:t>
            </a:r>
          </a:p>
          <a:p>
            <a:pPr marL="457200" lvl="1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28800" y="274638"/>
            <a:ext cx="685800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Vulnerability </a:t>
            </a:r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Stack (cont’d)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752600"/>
            <a:ext cx="7670800" cy="3450696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6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components are services that integrate with the website to achieve certain functionality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Amazon.com targeted by an attacker is the main website; citrix.com is a third-party website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customers choose a product to buy, they click on a Buy/Checkout button.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Redirects them to their online banking account through a payment gateway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 website such as citrix.com offer payment gateways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might exploit this redirection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as a medium/pathway to enter Amozon.com and exploit it</a:t>
            </a:r>
          </a:p>
          <a:p>
            <a:endParaRPr lang="en-US" dirty="0"/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69106"/>
            <a:ext cx="8534400" cy="411480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5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store sensitive user information such as user IDs, phone numbers, and other particulars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might find vulnerabilities in a target website’s database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these vulnerabilities using tools </a:t>
            </a:r>
          </a:p>
          <a:p>
            <a:pPr lvl="2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get hold of the target’s database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828800" y="274638"/>
            <a:ext cx="685800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Vulnerability </a:t>
            </a:r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Stack (cont’d)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1148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4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Webservers are software programs that host websites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access a website, they send URL request to web server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parses this request and responds with a webpage, appear in browser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employ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footprinting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webserver, which hosts the target website and </a:t>
            </a:r>
          </a:p>
          <a:p>
            <a:pPr lvl="2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grab banners that contain information such as web server name and its version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tools such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gather the information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searching for published vulnerabilities in CVE database and exploit any of that they find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1929063" cy="132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828800" y="274638"/>
            <a:ext cx="685800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Vulnerability </a:t>
            </a:r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Stack (cont’d)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534400" cy="4114800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3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an OS to find open ports and vulnerabilities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viruses/backdoors to exploit them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the malware through open ports to the target machine; by running it,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Compromise the machines and gets control over them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access the databases of the target website.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Routers/switches route network traffic only to specific machines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 these switches with huge number of requests that exhaust the CAM table,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it to behave like a hub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website by sniffing data (in the network), include credentials or other personal information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Diagram, table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238" y="26126"/>
            <a:ext cx="4820323" cy="2686425"/>
          </a:xfrm>
          <a:prstGeom prst="rect">
            <a:avLst/>
          </a:prstGeom>
        </p:spPr>
      </p:pic>
      <p:pic>
        <p:nvPicPr>
          <p:cNvPr id="5" name="Picture 2" descr="D:\IS 404\pto\images (3)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534400" cy="411480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and IPS trigger alarms if any malicious traffic enters a target machine or server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evasion techniques to circumvent IDS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Exploiting the target, the IDS/IPS does not trigger any alarm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1828800" y="274638"/>
            <a:ext cx="685800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Vulnerability </a:t>
            </a:r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Stack (cont’d)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What is OWASP</a:t>
            </a:r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?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stands for the Open Web Application Security Project, an online community that produces articles, methodologies, documentation, tools, and technologies in the field of web application security.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Top 10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list of the 10 most common application vulnerabilities.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shows their risks, impacts, and countermeasures. 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20040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dirty="0" smtClean="0">
                <a:latin typeface="Stencil" panose="040409050D0802020404" pitchFamily="82" charset="0"/>
                <a:cs typeface="Times New Roman" panose="02020603050405020304" pitchFamily="18" charset="0"/>
              </a:rPr>
              <a:t>Reading assignment</a:t>
            </a: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838200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676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82905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Top 10 OWASP vulnerabilities 2024</a:t>
            </a:r>
            <a:b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</a:br>
            <a:endParaRPr lang="en-US" sz="40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nfographic - OWASP Top 10 20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0"/>
            <a:ext cx="9144000" cy="44818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tencil" panose="040409050D0802020404" pitchFamily="82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Certified Ethical Hacker (v-10) Web Application</a:t>
            </a:r>
          </a:p>
        </p:txBody>
      </p:sp>
      <p:pic>
        <p:nvPicPr>
          <p:cNvPr id="4" name="Picture 2" descr="D:\IS 404\pto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63" y="-12032"/>
            <a:ext cx="2157663" cy="148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D:\Security\2019-2020\604\IntroductionTo WebApp\"/>
  <p:tag name="ISPRING_PRESENTATION_PATH" val="D:\Security\2019-2020\604\IntroductionTo WebApp.pptx"/>
  <p:tag name="ISPRING_PROJECT_VERSION" val="9.3"/>
  <p:tag name="ISPRING_PROJECT_FOLDER_UPDATED" val="1"/>
  <p:tag name="ISPRING_SCREEN_RECS_UPDATED" val="D:\Security\2019-2020\604\IntroductionTo WebApp\"/>
  <p:tag name="ISPRING_UUID" val="{B96D6151-746A-4E49-BFF3-2677B891263B}"/>
  <p:tag name="ISPRING_PRESENTATION_INFO_2" val="&lt;?xml version=&quot;1.0&quot; encoding=&quot;UTF-8&quot; standalone=&quot;no&quot; ?&gt;&#10;&lt;presentation2&gt;&#10;&#10;  &lt;slides&gt;&#10;    &lt;slide id=&quot;{615749AF-4C89-43A7-9CB8-1928C07695B0}&quot; pptId=&quot;256&quot;/&gt;&#10;    &lt;slide id=&quot;{35EA5459-D163-4B42-A900-9EDF86E06134}&quot; pptId=&quot;275&quot;/&gt;&#10;    &lt;slide id=&quot;{BB21B077-B276-4C55-B01B-1E6048C1A64C}&quot; pptId=&quot;257&quot;/&gt;&#10;    &lt;slide id=&quot;{744152E7-41B4-44D9-9585-B9BFBF10092D}&quot; pptId=&quot;258&quot;/&gt;&#10;    &lt;slide id=&quot;{7ED3D4AA-2D8D-4D73-A5EF-96D54654AF47}&quot; pptId=&quot;259&quot;/&gt;&#10;    &lt;slide id=&quot;{75334560-63F7-41A7-91ED-229FC5A1D926}&quot; pptId=&quot;260&quot;/&gt;&#10;    &lt;slide id=&quot;{5DE100A2-7FF4-4B9B-A238-4761547674BA}&quot; pptId=&quot;261&quot;/&gt;&#10;    &lt;slide id=&quot;{F9940C4A-3AC9-46BD-90D4-C6DE10F70426}&quot; pptId=&quot;262&quot;/&gt;&#10;    &lt;slide id=&quot;{9251D6DF-C4DB-4CFC-9D52-1EEF5562A538}&quot; pptId=&quot;263&quot;/&gt;&#10;    &lt;slide id=&quot;{70AC193D-52D8-42BB-ADC1-3AA708B67D63}&quot; pptId=&quot;264&quot;/&gt;&#10;    &lt;slide id=&quot;{1101D359-7222-4428-9ABF-9DFF49ADCAEB}&quot; pptId=&quot;265&quot;/&gt;&#10;    &lt;slide id=&quot;{E6F51C41-6080-43C9-9342-5FF4BCA0EA83}&quot; pptId=&quot;272&quot;/&gt;&#10;    &lt;slide id=&quot;{29442292-9CE3-4678-A52D-54E43ECC57CD}&quot; pptId=&quot;266&quot;/&gt;&#10;    &lt;slide id=&quot;{1D18A87B-BFDE-4552-AF3E-B8C218896B6C}&quot; pptId=&quot;267&quot;/&gt;&#10;    &lt;slide id=&quot;{1CBDD88D-E5F1-4E1F-A871-EC224598AB23}&quot; pptId=&quot;273&quot;/&gt;&#10;    &lt;slide id=&quot;{40D1C5A2-2BA8-41A3-88B8-8B5A185C9390}&quot; pptId=&quot;268&quot;/&gt;&#10;    &lt;slide id=&quot;{417CD266-064B-4B1D-B2CA-561BF9EB6B1A}&quot; pptId=&quot;274&quot;/&gt;&#10;    &lt;slide id=&quot;{6FC0FB5E-CD40-4A82-B9A0-1F90A9D8EA96}&quot; pptId=&quot;269&quot;/&gt;&#10;    &lt;slide id=&quot;{ACD42532-1813-4F0C-B499-FA41E3F6CB8E}&quot; pptId=&quot;271&quot;/&gt;&#10;    &lt;slide id=&quot;{EC1E2587-82F9-4D16-8BED-46E584BD2DFF}&quot; pptId=&quot;277&quot;/&gt;&#10;    &lt;slide id=&quot;{E0793D36-8B51-40F4-8A24-466759C2397F}&quot; pptId=&quot;278&quot;/&gt;&#10;    &lt;slide id=&quot;{23F0E836-ABF7-4059-A613-9A379FA580BB}&quot; pptId=&quot;279&quot;/&gt;&#10;    &lt;slide id=&quot;{D60DA38D-BBEE-45C5-9EFB-FC895F52ED69}&quot; pptId=&quot;276&quot;/&gt;&#10;  &lt;/slides&gt;&#10;&#10;  &lt;narration&gt;&#10;    &lt;audioTracks&gt;&#10;      &lt;audioTrack muted=&quot;false&quot; name=&quot;Audio 1&quot; resource=&quot;b7b239ba&quot; slideId=&quot;{615749AF-4C89-43A7-9CB8-1928C07695B0}&quot; startTime=&quot;0&quot; stepIndex=&quot;0&quot; volume=&quot;1&quot;&gt;&#10;        &lt;audio channels=&quot;1&quot; format=&quot;s16&quot; sampleRate=&quot;44100&quot;/&gt;&#10;      &lt;/audioTrack&gt;&#10;    &lt;/audioTracks&gt;&#10;    &lt;videoTracks/&gt;&#10;  &lt;/narration&gt;&#10;&#10;&lt;/presentation2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2.352"/>
  <p:tag name="ISPRING_SLIDE_ID_2" val="{615749AF-4C89-43A7-9CB8-1928C07695B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5EA5459-D163-4B42-A900-9EDF86E06134}"/>
  <p:tag name="GENSWF_ADVANCE_TIME" val="5.000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4.307"/>
  <p:tag name="ISPRING_SLIDE_ID_2" val="{BB21B077-B276-4C55-B01B-1E6048C1A64C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2.166"/>
  <p:tag name="ISPRING_SLIDE_ID_2" val="{744152E7-41B4-44D9-9585-B9BFBF10092D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678"/>
  <p:tag name="ISPRING_SLIDE_ID_2" val="{7ED3D4AA-2D8D-4D73-A5EF-96D54654AF4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2.203"/>
  <p:tag name="ISPRING_SLIDE_ID_2" val="{75334560-63F7-41A7-91ED-229FC5A1D9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287"/>
  <p:tag name="ISPRING_SLIDE_ID_2" val="{5DE100A2-7FF4-4B9B-A238-4761547674BA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177"/>
  <p:tag name="ISPRING_SLIDE_ID_2" val="{F9940C4A-3AC9-46BD-90D4-C6DE10F7042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2.265"/>
  <p:tag name="ISPRING_SLIDE_ID_2" val="{9251D6DF-C4DB-4CFC-9D52-1EEF5562A53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339"/>
  <p:tag name="ISPRING_SLIDE_ID_2" val="{70AC193D-52D8-42BB-ADC1-3AA708B67D6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215"/>
  <p:tag name="ISPRING_SLIDE_ID_2" val="{1101D359-7222-4428-9ABF-9DFF49ADCAEB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6F51C41-6080-43C9-9342-5FF4BCA0EA83}"/>
  <p:tag name="GENSWF_ADVANCE_TIME" val="5.000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375"/>
  <p:tag name="ISPRING_SLIDE_ID_2" val="{29442292-9CE3-4678-A52D-54E43ECC57CD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157"/>
  <p:tag name="ISPRING_SLIDE_ID_2" val="{1D18A87B-BFDE-4552-AF3E-B8C218896B6C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CBDD88D-E5F1-4E1F-A871-EC224598AB23}"/>
  <p:tag name="GENSWF_ADVANCE_TIME" val="5.000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177"/>
  <p:tag name="ISPRING_SLIDE_ID_2" val="{40D1C5A2-2BA8-41A3-88B8-8B5A185C939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GENSWF_ADVANCE_TIME" val="1.177"/>
  <p:tag name="ISPRING_SLIDE_ID_2" val="{417CD266-064B-4B1D-B2CA-561BF9EB6B1A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6FC0FB5E-CD40-4A82-B9A0-1F90A9D8EA9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ACD42532-1813-4F0C-B499-FA41E3F6CB8E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C1E2587-82F9-4D16-8BED-46E584BD2DFF}"/>
  <p:tag name="GENSWF_ADVANCE_TIME" val="5.000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C1E2587-82F9-4D16-8BED-46E584BD2DFF}"/>
  <p:tag name="GENSWF_ADVANCE_TIME" val="5.000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3F0E836-ABF7-4059-A613-9A379FA580BB}"/>
  <p:tag name="GENSWF_ADVANCE_TIME" val="5.000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60DA38D-BBEE-45C5-9EFB-FC895F52ED69}"/>
  <p:tag name="GENSWF_ADVANCE_TIME" val="5.000"/>
  <p:tag name="ISPRING_CUSTOM_TIMING_US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</TotalTime>
  <Words>1577</Words>
  <Application>Microsoft Office PowerPoint</Application>
  <PresentationFormat>On-screen Show (4:3)</PresentationFormat>
  <Paragraphs>216</Paragraphs>
  <Slides>23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Outline</vt:lpstr>
      <vt:lpstr>Introduction to Web Applications</vt:lpstr>
      <vt:lpstr>PowerPoint Presentation</vt:lpstr>
      <vt:lpstr>PowerPoint Presentation</vt:lpstr>
      <vt:lpstr>Advantages of Web Applications</vt:lpstr>
      <vt:lpstr>Advantages of Web Applications(cont’d)</vt:lpstr>
      <vt:lpstr>How Web Application Work?</vt:lpstr>
      <vt:lpstr>Web Application Architecture</vt:lpstr>
      <vt:lpstr>Client or Presentation Layer</vt:lpstr>
      <vt:lpstr>Business Logic Layer</vt:lpstr>
      <vt:lpstr>Business Logic Layer (Cont’d)</vt:lpstr>
      <vt:lpstr>Database Layer</vt:lpstr>
      <vt:lpstr>Vulnerability Stack</vt:lpstr>
      <vt:lpstr>Vulnerability Stack (cont’d)</vt:lpstr>
      <vt:lpstr>Vulnerability Stack (cont’d)</vt:lpstr>
      <vt:lpstr>Vulnerability Stack (cont’d)</vt:lpstr>
      <vt:lpstr>Vulnerability Stack</vt:lpstr>
      <vt:lpstr>Vulnerability Stack (cont’d)</vt:lpstr>
      <vt:lpstr>What is OWASP?</vt:lpstr>
      <vt:lpstr>Reading assignment</vt:lpstr>
      <vt:lpstr>Top 10 OWASP vulnerabilities 2024 </vt:lpstr>
      <vt:lpstr>References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ASUS</cp:lastModifiedBy>
  <cp:revision>168</cp:revision>
  <dcterms:created xsi:type="dcterms:W3CDTF">2020-03-26T01:38:00Z</dcterms:created>
  <dcterms:modified xsi:type="dcterms:W3CDTF">2026-06-17T07:47:17Z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7CD8CE9D79B64DA4922CEA353A8AC8B5_12</vt:lpwstr>
  </property>
  <property fmtid="{D5CDD505-2E9C-101B-9397-08002B2CF9AE}" pid="3" name="KSOProductBuildVer">
    <vt:lpwstr>1033-12.2.0.18911</vt:lpwstr>
  </property>
</Properties>
</file>